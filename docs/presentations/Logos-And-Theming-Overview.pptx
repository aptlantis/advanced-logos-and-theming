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overview describes the implemented local pilot, not an installation or publication. The supplied Black-Gold sample determines all twelve Office theme colors, Arial typography and the 16:9 canvas. The source artwork shown here is the preserved PNG for the Black-Gold run, not a newly generated visual. The separate document-suite plan specifies future deep dives; those volumes are not presented as already written.</a:t>
            </a:r>
          </a:p>
          <a:p>
            <a:endParaRPr/>
          </a:p>
          <a:p>
            <a:r>
              <a:t>PRIMARY SOURCES (captured 2026-10-08)</a:t>
            </a:r>
          </a:p>
          <a:p>
            <a:r>
              <a:t>D:\CTS\Logos-And-Theming\README.md</a:t>
            </a:r>
          </a:p>
          <a:p>
            <a:r>
              <a:t>SHA-256 126e9ea0c0c7db8306796d37ad09452a7c217095cf34803d9b8da994b841c690</a:t>
            </a:r>
          </a:p>
          <a:p>
            <a:endParaRPr/>
          </a:p>
          <a:p>
            <a:r>
              <a:t>D:\CTS\Logos-And-Theming\output\blackgold\powerpoint\aptlantis-black-gold-sample.pptx</a:t>
            </a:r>
          </a:p>
          <a:p>
            <a:r>
              <a:t>SHA-256 e1d849a6bcf493a8ff3842ff385b25476aeb3e1c65930e1a1b4c836ba5e15a74</a:t>
            </a:r>
          </a:p>
          <a:p>
            <a:endParaRPr/>
          </a:p>
          <a:p>
            <a:r>
              <a:t>D:\CTS\Logos-And-Theming\output\blackgold\source\apt-zig-dark-logo.png</a:t>
            </a:r>
          </a:p>
          <a:p>
            <a:r>
              <a:t>SHA-256 4fa6ac889d5ecf7b4fa35bda3276cd2e7bb5a3817c4e859c4727f61d3c45978c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separates extraction from semantics and target adaptation. This avoids conflating an image-derived candidate with a warning color or assuming the darkest sample must become the background. A terminal, document editor and presentation can share provenance while requiring different text and state combinations. The canonical palette stays unchanged when application tokens are derived.</a:t>
            </a:r>
          </a:p>
          <a:p>
            <a:endParaRPr/>
          </a:p>
          <a:p>
            <a:r>
              <a:t>PRIMARY SOURCES (captured 2026-10-08)</a:t>
            </a:r>
          </a:p>
          <a:p>
            <a:r>
              <a:t>D:\CTS\Logos-And-Theming\Project-Proposal.md</a:t>
            </a:r>
          </a:p>
          <a:p>
            <a:r>
              <a:t>SHA-256 63c577d485f761ddaaa7e0aa65a2617e7377e8e6dd44b965c6e51ad7a8beba19</a:t>
            </a:r>
          </a:p>
          <a:p>
            <a:endParaRPr/>
          </a:p>
          <a:p>
            <a:r>
              <a:t>D:\CTS\Logos-And-Theming\apt_theme\extraction.py</a:t>
            </a:r>
          </a:p>
          <a:p>
            <a:r>
              <a:t>SHA-256 47e707dc20b42e1e44f70472737f9a9c6cca5a3d370ba4db658be96e51d072e9</a:t>
            </a:r>
          </a:p>
          <a:p>
            <a:endParaRPr/>
          </a:p>
          <a:p>
            <a:r>
              <a:t>D:\CTS\Logos-And-Theming\apt_theme\semantics.py</a:t>
            </a:r>
          </a:p>
          <a:p>
            <a:r>
              <a:t>SHA-256 87ccb3c57241930a5cabaa4110a9fba3e5044b2a90b6113649266a6991d6c165</a:t>
            </a:r>
          </a:p>
          <a:p>
            <a:endParaRPr/>
          </a:p>
          <a:p>
            <a:r>
              <a:t>D:\CTS\Logos-And-Theming\apt_theme\targets.py</a:t>
            </a:r>
          </a:p>
          <a:p>
            <a:r>
              <a:t>SHA-256 f4fe7d7998fe1b318b8ca36fae419165271c6d1581007458b433e40140023fee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former D-drive locations and the Documents working folder were inventoried and archived. Hash-verified migration records preserve differing versions rather than silently choosing one. The current consolidated implementation is not an assertion that every historical exporter was ported: legacy tools and outputs remain historical material. Archive, inventory, acceptance and retirement records provide the recovery trail. Existing public asset copies and deployment state were kept separate.</a:t>
            </a:r>
          </a:p>
          <a:p>
            <a:endParaRPr/>
          </a:p>
          <a:p>
            <a:r>
              <a:t>PRIMARY SOURCES (captured 2026-10-08)</a:t>
            </a:r>
          </a:p>
          <a:p>
            <a:r>
              <a:t>D:\CTS\Logos-And-Theming\migration\README.md</a:t>
            </a:r>
          </a:p>
          <a:p>
            <a:r>
              <a:t>SHA-256 6848533802288b130af38dd2efabf27ed5ae5fb1c7c480cc4623f30170b23524</a:t>
            </a:r>
          </a:p>
          <a:p>
            <a:endParaRPr/>
          </a:p>
          <a:p>
            <a:r>
              <a:t>D:\CTS\Logos-And-Theming\migration\acceptance.json</a:t>
            </a:r>
          </a:p>
          <a:p>
            <a:r>
              <a:t>SHA-256 db645b0a858d2af0057bcab688cff5a22378ef0478a7f926bff646611725a3ae</a:t>
            </a:r>
          </a:p>
          <a:p>
            <a:endParaRPr/>
          </a:p>
          <a:p>
            <a:r>
              <a:t>D:\CTS\Logos-And-Theming\Project-README.md</a:t>
            </a:r>
          </a:p>
          <a:p>
            <a:r>
              <a:t>SHA-256 3c47f77fdfa0801be0cc4d3837d9d6a6d38c5f1010db0df4067eb2a364244752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metadata sibling receives explicit asset-root and configuration paths. Asset IDs, filenames and registry relationships belong to the preserved collection. Canonical standards remain under City Hall; a project guide or handbook snapshot does not replace those standards. Ordinary generation does not run converters, embed metadata, install themes or publish assets.</a:t>
            </a:r>
          </a:p>
          <a:p>
            <a:endParaRPr/>
          </a:p>
          <a:p>
            <a:r>
              <a:t>PRIMARY SOURCES (captured 2026-10-08)</a:t>
            </a:r>
          </a:p>
          <a:p>
            <a:r>
              <a:t>D:\CTS\Logos-And-Theming\AGENTS.md</a:t>
            </a:r>
          </a:p>
          <a:p>
            <a:r>
              <a:t>SHA-256 33cee531481fd4ad5c582956232207be5de0121557242d923f4b94f3e9e709e2</a:t>
            </a:r>
          </a:p>
          <a:p>
            <a:endParaRPr/>
          </a:p>
          <a:p>
            <a:r>
              <a:t>D:\CTS\Logos-And-Theming\Logos-And-Theming.manifest.toml</a:t>
            </a:r>
          </a:p>
          <a:p>
            <a:r>
              <a:t>SHA-256 e2b60321ec6ccfc58fd08a8418c47356695da76ee6bb38aadddeb1e6dc63e7aa</a:t>
            </a:r>
          </a:p>
          <a:p>
            <a:endParaRPr/>
          </a:p>
          <a:p>
            <a:r>
              <a:t>D:\CTS\SESM-Metadata-Embedder\README.md</a:t>
            </a:r>
          </a:p>
          <a:p>
            <a:r>
              <a:t>SHA-256 df23a7392ceb9b1eca852fcbbbe3d962c28ed8e0ad58c96882a0f6559a7a9362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image and its hash are retained independently from its normalized decoding. Candidate and selection diagnostics make the extraction reviewable. Semantic assignments are stored separately, and target tokens retain the origin of transformations. Processing completion and aesthetic approval are different conclusions: review findings can remain in completed output.</a:t>
            </a:r>
          </a:p>
          <a:p>
            <a:endParaRPr/>
          </a:p>
          <a:p>
            <a:r>
              <a:t>PRIMARY SOURCES (captured 2026-10-08)</a:t>
            </a:r>
          </a:p>
          <a:p>
            <a:r>
              <a:t>D:\CTS\Logos-And-Theming\README.md</a:t>
            </a:r>
          </a:p>
          <a:p>
            <a:r>
              <a:t>SHA-256 126e9ea0c0c7db8306796d37ad09452a7c217095cf34803d9b8da994b841c690</a:t>
            </a:r>
          </a:p>
          <a:p>
            <a:endParaRPr/>
          </a:p>
          <a:p>
            <a:r>
              <a:t>D:\CTS\Logos-And-Theming\docs\COMMAND-CONTRACT.md</a:t>
            </a:r>
          </a:p>
          <a:p>
            <a:r>
              <a:t>SHA-256 943c531870f9784d3e9b0537d0aa02c20f5077b5e9975fce608e1c0d87f42dc3</a:t>
            </a:r>
          </a:p>
          <a:p>
            <a:endParaRPr/>
          </a:p>
          <a:p>
            <a:r>
              <a:t>D:\CTS\Logos-And-Theming\apt_theme\cli.py</a:t>
            </a:r>
          </a:p>
          <a:p>
            <a:r>
              <a:t>SHA-256 73e6d4c0d8063d7107144ae87ac64f5c1c8832d95da28ffa4bca6ca47028bd38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ImageMagick handles image interpretation rather than semantic role assignment. KMeans uses sample weights and fixed seeds; cluster representatives are observed colors nearest centers, not exported centroids. ColorAide handles perceptual conversions and derivation. The PowerPoint target also requires the documented local Node/Artifact Tool runtime; the other targets do not. Dependency availability is part of setup, not a reason to choose a weaker algorithm silently.</a:t>
            </a:r>
          </a:p>
          <a:p>
            <a:endParaRPr/>
          </a:p>
          <a:p>
            <a:r>
              <a:t>PRIMARY SOURCES (captured 2026-10-08)</a:t>
            </a:r>
          </a:p>
          <a:p>
            <a:r>
              <a:t>D:\CTS\Logos-And-Theming\apt_theme\extraction.py</a:t>
            </a:r>
          </a:p>
          <a:p>
            <a:r>
              <a:t>SHA-256 47e707dc20b42e1e44f70472737f9a9c6cca5a3d370ba4db658be96e51d072e9</a:t>
            </a:r>
          </a:p>
          <a:p>
            <a:endParaRPr/>
          </a:p>
          <a:p>
            <a:r>
              <a:t>D:\CTS\Logos-And-Theming\apt_theme\colors.py</a:t>
            </a:r>
          </a:p>
          <a:p>
            <a:r>
              <a:t>SHA-256 be1efceddd2dcc06ec5676000630d035016307a2e57a098cfaee520a63cffbcb</a:t>
            </a:r>
          </a:p>
          <a:p>
            <a:endParaRPr/>
          </a:p>
          <a:p>
            <a:r>
              <a:t>D:\CTS\Logos-And-Theming\docs\POWERPOINT.md</a:t>
            </a:r>
          </a:p>
          <a:p>
            <a:r>
              <a:t>SHA-256 2ee3c5cd34175829b166c07abc5385bedab7622e4745ed9e3065e6369aa844f2</a:t>
            </a:r>
          </a:p>
          <a:p>
            <a:endParaRPr/>
          </a:p>
          <a:p>
            <a:r>
              <a:t>D:\CTS\Logos-And-Theming\pyproject.toml</a:t>
            </a:r>
          </a:p>
          <a:p>
            <a:r>
              <a:t>SHA-256 526c4ab617e0738044062259e068d5392c4f68327f9031546819355d90115e17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implementation uses a bounded working sample after normalization; preserve the original high-bit-depth bytes for provenance and future comparisons. Transparent RGB values must not pollute the palette. Sampling introduces a deliberate computational bound: this is a representative estimate of the image, not an exhaustive proof that every pixel has been assigned ideally. Malformed input and an insufficient supply of distinct exportable colors fail clearly.</a:t>
            </a:r>
          </a:p>
          <a:p>
            <a:endParaRPr/>
          </a:p>
          <a:p>
            <a:r>
              <a:t>PRIMARY SOURCES (captured 2026-10-08)</a:t>
            </a:r>
          </a:p>
          <a:p>
            <a:r>
              <a:t>D:\CTS\Logos-And-Theming\apt_theme\extraction.py</a:t>
            </a:r>
          </a:p>
          <a:p>
            <a:r>
              <a:t>SHA-256 47e707dc20b42e1e44f70472737f9a9c6cca5a3d370ba4db658be96e51d072e9</a:t>
            </a:r>
          </a:p>
          <a:p>
            <a:endParaRPr/>
          </a:p>
          <a:p>
            <a:r>
              <a:t>D:\CTS\Logos-And-Theming\profiles.toml</a:t>
            </a:r>
          </a:p>
          <a:p>
            <a:r>
              <a:t>SHA-256 741fa47e06b3d891791bb0cb6055afe1fc6a40121f805af71861530edc385187</a:t>
            </a:r>
          </a:p>
          <a:p>
            <a:endParaRPr/>
          </a:p>
          <a:p>
            <a:r>
              <a:t>D:\CTS\Logos-And-Theming\tests\test_pipeline.py</a:t>
            </a:r>
          </a:p>
          <a:p>
            <a:r>
              <a:t>SHA-256 2d9b6009d52f77677bda3eac6d7cd1e7b38b0867ba866ceaeafb14170c48cbdd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candidate stage requests up to 192 representatives. It reduces a large image to a bounded set while retaining population information. Near-black export noise is coalesced during canonical selection when enough meaningful observed alternatives remain. Fixed seeds and stable ordering support deterministic regeneration; they do not mean a color ID is immutable across different images or future selection algorithms.</a:t>
            </a:r>
          </a:p>
          <a:p>
            <a:endParaRPr/>
          </a:p>
          <a:p>
            <a:r>
              <a:t>PRIMARY SOURCES (captured 2026-10-08)</a:t>
            </a:r>
          </a:p>
          <a:p>
            <a:r>
              <a:t>D:\CTS\Logos-And-Theming\apt_theme\extraction.py</a:t>
            </a:r>
          </a:p>
          <a:p>
            <a:r>
              <a:t>SHA-256 47e707dc20b42e1e44f70472737f9a9c6cca5a3d370ba4db658be96e51d072e9</a:t>
            </a:r>
          </a:p>
          <a:p>
            <a:endParaRPr/>
          </a:p>
          <a:p>
            <a:r>
              <a:t>D:\CTS\Logos-And-Theming\output\blackgold\candidates.json</a:t>
            </a:r>
          </a:p>
          <a:p>
            <a:r>
              <a:t>SHA-256 0a577f36cd153ae174a28b4eb694145815a4b9615fa6cb79be8815606fc89ca1</a:t>
            </a:r>
          </a:p>
          <a:p>
            <a:endParaRPr/>
          </a:p>
          <a:p>
            <a:r>
              <a:t>D:\CTS\Logos-And-Theming\output\blackgold\selection.json</a:t>
            </a:r>
          </a:p>
          <a:p>
            <a:r>
              <a:t>SHA-256 89199990fc40823aa252648d67e6cf7b2027c89774c8c167d8bf75563444e7df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editable native table contains the exact canonical hex values from the preserved Black-Gold run. Colors range from dark anchors through muted browns, golds and cool accents to a light foreground. Pure black remains an image color; its presence does not make it the background role. Target exports must not rewrite these values. Role assignments and all derived colors are separate artifacts. The selector clusters the candidate pool into thirty perceptual groups, protects the lightest and darkest anchors, skips representatives closer than0.03 OKLab to the selected set and fills remaining positions with population-aware farthest candidates. Stable lightness/hex ordering assigns color IDs. This replaces fixed semantic category quotas.</a:t>
            </a:r>
          </a:p>
          <a:p>
            <a:endParaRPr/>
          </a:p>
          <a:p>
            <a:r>
              <a:t>PRIMARY SOURCES (captured 2026-10-08)</a:t>
            </a:r>
          </a:p>
          <a:p>
            <a:r>
              <a:t>D:\CTS\Logos-And-Theming\output\blackgold\palette.toml</a:t>
            </a:r>
          </a:p>
          <a:p>
            <a:r>
              <a:t>SHA-256 469aee68f10fd2b7a71f996646aa7295358f43ed34f02d5db32f75c213a97e41</a:t>
            </a:r>
          </a:p>
          <a:p>
            <a:endParaRPr/>
          </a:p>
          <a:p>
            <a:r>
              <a:t>D:\CTS\Logos-And-Theming\output\blackgold\selection.json</a:t>
            </a:r>
          </a:p>
          <a:p>
            <a:r>
              <a:t>SHA-256 89199990fc40823aa252648d67e6cf7b2027c89774c8c167d8bf75563444e7df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Surfaces and text are selected by lightness and readability. Identity accents use prominence; status and ANSI roles use hue suitability rather than an accent’s position in a list. TOML semantic overrides resolve reviewed choices. The Black-Gold warning is warm #FBD484, not cyan. A legitimate warning color still needs contrast on its actual exported background and should not be the only way a warning is communicated.</a:t>
            </a:r>
          </a:p>
          <a:p>
            <a:endParaRPr/>
          </a:p>
          <a:p>
            <a:r>
              <a:t>PRIMARY SOURCES (captured 2026-10-08)</a:t>
            </a:r>
          </a:p>
          <a:p>
            <a:r>
              <a:t>D:\CTS\Logos-And-Theming\apt_theme\semantics.py</a:t>
            </a:r>
          </a:p>
          <a:p>
            <a:r>
              <a:t>SHA-256 87ccb3c57241930a5cabaa4110a9fba3e5044b2a90b6113649266a6991d6c165</a:t>
            </a:r>
          </a:p>
          <a:p>
            <a:endParaRPr/>
          </a:p>
          <a:p>
            <a:r>
              <a:t>D:\CTS\Logos-And-Theming\output\blackgold\semantics.json</a:t>
            </a:r>
          </a:p>
          <a:p>
            <a:r>
              <a:t>SHA-256 543c79e382c69e21960a6c84636ae6213ff6a2fb5f42fabd6cf294dc8220ddce</a:t>
            </a:r>
          </a:p>
          <a:p>
            <a:endParaRPr/>
          </a:p>
          <a:p>
            <a:r>
              <a:t>D:\CTS\Logos-And-Theming\profiles.toml</a:t>
            </a:r>
          </a:p>
          <a:p>
            <a:r>
              <a:t>SHA-256 741fa47e06b3d891791bb0cb6055afe1fc6a40121f805af71861530edc385187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actual semantics.json contains an unavailable_conventional_hue finding for magenta, using color_06 with a hue distance of roughly 79.4 degrees. Other runs can have different missing hues and collisions. No universal completeness claim is made for all images. Missing conventional hues are review findings, not permission to introduce new hue families. Applications may require a textual label, symbol or other additional distinction.</a:t>
            </a:r>
          </a:p>
          <a:p>
            <a:endParaRPr/>
          </a:p>
          <a:p>
            <a:r>
              <a:t>PRIMARY SOURCES (captured 2026-10-08)</a:t>
            </a:r>
          </a:p>
          <a:p>
            <a:r>
              <a:t>D:\CTS\Logos-And-Theming\output\blackgold\semantics.json</a:t>
            </a:r>
          </a:p>
          <a:p>
            <a:r>
              <a:t>SHA-256 543c79e382c69e21960a6c84636ae6213ff6a2fb5f42fabd6cf294dc8220ddce</a:t>
            </a:r>
          </a:p>
          <a:p>
            <a:endParaRPr/>
          </a:p>
          <a:p>
            <a:r>
              <a:t>D:\CTS\Logos-And-Theming\apt_theme\semantics.py</a:t>
            </a:r>
          </a:p>
          <a:p>
            <a:r>
              <a:t>SHA-256 87ccb3c57241930a5cabaa4110a9fba3e5044b2a90b6113649266a6991d6c165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origins record source IDs, purpose, requested OKLCH, whether the result was derived and whether gamut mapping was needed. Hue preservation describes the requested derivation in perceptual space; conversion to finite sRGB values can introduce quantization differences, especially in low-chroma colors. The pipeline should be judged on actual exported combinations as well as transformations. Token budgets do not require arbitrary shades.</a:t>
            </a:r>
          </a:p>
          <a:p>
            <a:endParaRPr/>
          </a:p>
          <a:p>
            <a:r>
              <a:t>PRIMARY SOURCES (captured 2026-10-08)</a:t>
            </a:r>
          </a:p>
          <a:p>
            <a:r>
              <a:t>D:\CTS\Logos-And-Theming\apt_theme\colors.py</a:t>
            </a:r>
          </a:p>
          <a:p>
            <a:r>
              <a:t>SHA-256 be1efceddd2dcc06ec5676000630d035016307a2e57a098cfaee520a63cffbcb</a:t>
            </a:r>
          </a:p>
          <a:p>
            <a:endParaRPr/>
          </a:p>
          <a:p>
            <a:r>
              <a:t>D:\CTS\Logos-And-Theming\apt_theme\targets.py</a:t>
            </a:r>
          </a:p>
          <a:p>
            <a:r>
              <a:t>SHA-256 f4fe7d7998fe1b318b8ca36fae419165271c6d1581007458b433e40140023fee</a:t>
            </a:r>
          </a:p>
          <a:p>
            <a:endParaRPr/>
          </a:p>
          <a:p>
            <a:r>
              <a:t>D:\CTS\Logos-And-Theming\output\blackgold\powerpoint\tokens.json</a:t>
            </a:r>
          </a:p>
          <a:p>
            <a:r>
              <a:t>SHA-256 0cc951ccb2fb25bf6ba8c208792cac938b9abde473e9499122d228d6a82dce39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defaults use semantic background_mode=identity with target lightness 0.20; darkest remains an explicit alternative, and overrides take precedence. The Black-Gold selection reports18 near-black candidates,1 canonical floor representative and17 coalesced. The quality lesson is not that black is always wrong: extraction, identity and surface assignment must be independently reviewable. Weighted coverage and minimum spacing provide diagnostics, not a mathematical proof of aesthetic quality.</a:t>
            </a:r>
          </a:p>
          <a:p>
            <a:endParaRPr/>
          </a:p>
          <a:p>
            <a:r>
              <a:t>PRIMARY SOURCES (captured 2026-10-08)</a:t>
            </a:r>
          </a:p>
          <a:p>
            <a:r>
              <a:t>D:\CTS\Logos-And-Theming\docs\COMMAND-CONTRACT.md</a:t>
            </a:r>
          </a:p>
          <a:p>
            <a:r>
              <a:t>SHA-256 943c531870f9784d3e9b0537d0aa02c20f5077b5e9975fce608e1c0d87f42dc3</a:t>
            </a:r>
          </a:p>
          <a:p>
            <a:endParaRPr/>
          </a:p>
          <a:p>
            <a:r>
              <a:t>D:\CTS\Logos-And-Theming\migration\dark-surface-regression.json</a:t>
            </a:r>
          </a:p>
          <a:p>
            <a:r>
              <a:t>SHA-256 37a6500cb6a45084bdf0136ef41adcd19a054cf322a1a486eb253074bb906af9</a:t>
            </a:r>
          </a:p>
          <a:p>
            <a:endParaRPr/>
          </a:p>
          <a:p>
            <a:r>
              <a:t>D:\CTS\Logos-And-Theming\output\blackgold\selection.json</a:t>
            </a:r>
          </a:p>
          <a:p>
            <a:r>
              <a:t>SHA-256 89199990fc40823aa252648d67e6cf7b2027c89774c8c167d8bf75563444e7df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Budgets are working guides for distinct named tokens, not counts of UI settings. A single token can serve many settings. PowerPoint has12 native Office color slots despite the adapter’s larger working token vocabulary. Additional targets such as IDEs, web frameworks and desktop applications remain deferred until native output and acceptance contracts are established.</a:t>
            </a:r>
          </a:p>
          <a:p>
            <a:endParaRPr/>
          </a:p>
          <a:p>
            <a:r>
              <a:t>PRIMARY SOURCES (captured 2026-10-08)</a:t>
            </a:r>
          </a:p>
          <a:p>
            <a:r>
              <a:t>D:\CTS\Logos-And-Theming\profiles.toml</a:t>
            </a:r>
          </a:p>
          <a:p>
            <a:r>
              <a:t>SHA-256 741fa47e06b3d891791bb0cb6055afe1fc6a40121f805af71861530edc385187</a:t>
            </a:r>
          </a:p>
          <a:p>
            <a:endParaRPr/>
          </a:p>
          <a:p>
            <a:r>
              <a:t>D:\CTS\Logos-And-Theming\docs\COMMAND-CONTRACT.md</a:t>
            </a:r>
          </a:p>
          <a:p>
            <a:r>
              <a:t>SHA-256 943c531870f9784d3e9b0537d0aa02c20f5077b5e9975fce608e1c0d87f42dc3</a:t>
            </a:r>
          </a:p>
          <a:p>
            <a:endParaRPr/>
          </a:p>
          <a:p>
            <a:r>
              <a:t>D:\CTS\Logos-And-Theming\apt_theme\targets.py</a:t>
            </a:r>
          </a:p>
          <a:p>
            <a:r>
              <a:t>SHA-256 f4fe7d7998fe1b318b8ca36fae419165271c6d1581007458b433e40140023fee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values are a dated observation of the existing Black-Gold token files, not promises for every image. Windows Terminal20/17,SiYuan 62/40,Typora 40/36,PowerPoint 22/18. All four current Black-Gold validation files report no recorded contrast failures, which is narrower than universal readability or native application approval. Aliases and reuse can be intentional; extra colors should be generated only for actual needs.</a:t>
            </a:r>
          </a:p>
          <a:p>
            <a:endParaRPr/>
          </a:p>
          <a:p>
            <a:r>
              <a:t>PRIMARY SOURCES (captured 2026-10-08)</a:t>
            </a:r>
          </a:p>
          <a:p>
            <a:r>
              <a:t>D:\CTS\Logos-And-Theming\output\blackgold\windows_terminal\tokens.json</a:t>
            </a:r>
          </a:p>
          <a:p>
            <a:r>
              <a:t>SHA-256 35f1daa4f39be3bba089cf0e98375f6fb9ecb16a202f1242eb5a8f8fa1b9d32c</a:t>
            </a:r>
          </a:p>
          <a:p>
            <a:endParaRPr/>
          </a:p>
          <a:p>
            <a:r>
              <a:t>D:\CTS\Logos-And-Theming\output\blackgold\siyuan\tokens.json</a:t>
            </a:r>
          </a:p>
          <a:p>
            <a:r>
              <a:t>SHA-256 2383511e788c604b7e34d069beda79978df66b08f598f526d0db9c1baa8b77ab</a:t>
            </a:r>
          </a:p>
          <a:p>
            <a:endParaRPr/>
          </a:p>
          <a:p>
            <a:r>
              <a:t>D:\CTS\Logos-And-Theming\output\blackgold\typora\tokens.json</a:t>
            </a:r>
          </a:p>
          <a:p>
            <a:r>
              <a:t>SHA-256 abfafbd26775d313c98ba59c41a8ea2033e566ac86aa1e2a2dfe368798e20894</a:t>
            </a:r>
          </a:p>
          <a:p>
            <a:endParaRPr/>
          </a:p>
          <a:p>
            <a:r>
              <a:t>D:\CTS\Logos-And-Theming\output\blackgold\powerpoint\tokens.json</a:t>
            </a:r>
          </a:p>
          <a:p>
            <a:r>
              <a:t>SHA-256 0cc951ccb2fb25bf6ba8c208792cac938b9abde473e9499122d228d6a82dce39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Terminal output has fewer component and typography options than a full editor. The adapter cannot rely on arbitrary syntax shades if the ANSI contract offers only16 slots. Bright and ordinary ANSI variants need to be tested against the real background; selection foreground also needs checking against selection fill. Preserving a source hue is necessary but insufficient for a visually coherent terminal theme. Live terminal import and visual testing remain a separate acceptance step.</a:t>
            </a:r>
          </a:p>
          <a:p>
            <a:endParaRPr/>
          </a:p>
          <a:p>
            <a:r>
              <a:t>PRIMARY SOURCES (captured 2026-10-08)</a:t>
            </a:r>
          </a:p>
          <a:p>
            <a:r>
              <a:t>D:\CTS\Logos-And-Theming\apt_theme\targets.py</a:t>
            </a:r>
          </a:p>
          <a:p>
            <a:r>
              <a:t>SHA-256 f4fe7d7998fe1b318b8ca36fae419165271c6d1581007458b433e40140023fee</a:t>
            </a:r>
          </a:p>
          <a:p>
            <a:endParaRPr/>
          </a:p>
          <a:p>
            <a:r>
              <a:t>D:\CTS\Logos-And-Theming\output\blackgold\windows_terminal\windows-terminal.json</a:t>
            </a:r>
          </a:p>
          <a:p>
            <a:r>
              <a:t>SHA-256 59ea2179eb4e5b298b3cef13057f2a20b3f272d51fde5067cd8937422bdac2b9</a:t>
            </a:r>
          </a:p>
          <a:p>
            <a:endParaRPr/>
          </a:p>
          <a:p>
            <a:r>
              <a:t>D:\CTS\Logos-And-Theming\docs\VALIDATION.md</a:t>
            </a:r>
          </a:p>
          <a:p>
            <a:r>
              <a:t>SHA-256 56ef24d7373c564f03dfce1537dd875794e491c812f45656e93b0c2827ae7230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initial exports follow the target contracts documented in the project. Structural validation checks CSS references and package contents; the HTML review approximates representative combinations. Neither proves every selector behaves correctly in a particular installed application version. Native acceptance needs versioned import and visual checks for document, navigation, code and state combinations, including keyboard focus.</a:t>
            </a:r>
          </a:p>
          <a:p>
            <a:endParaRPr/>
          </a:p>
          <a:p>
            <a:r>
              <a:t>PRIMARY SOURCES (captured 2026-10-08)</a:t>
            </a:r>
          </a:p>
          <a:p>
            <a:r>
              <a:t>D:\CTS\Logos-And-Theming\apt_theme\targets.py</a:t>
            </a:r>
          </a:p>
          <a:p>
            <a:r>
              <a:t>SHA-256 f4fe7d7998fe1b318b8ca36fae419165271c6d1581007458b433e40140023fee</a:t>
            </a:r>
          </a:p>
          <a:p>
            <a:endParaRPr/>
          </a:p>
          <a:p>
            <a:r>
              <a:t>D:\CTS\Logos-And-Theming\docs\VALIDATION.md</a:t>
            </a:r>
          </a:p>
          <a:p>
            <a:r>
              <a:t>SHA-256 56ef24d7373c564f03dfce1537dd875794e491c812f45656e93b0c2827ae7230</a:t>
            </a:r>
          </a:p>
          <a:p>
            <a:endParaRPr/>
          </a:p>
          <a:p>
            <a:r>
              <a:t>D:\CTS\Logos-And-Theming\output\blackgold\siyuan\theme.css</a:t>
            </a:r>
          </a:p>
          <a:p>
            <a:r>
              <a:t>SHA-256 64258c81c6a80822025ae9a03e9e431ba6f875e8dd9192970620f0690f7e2875</a:t>
            </a:r>
          </a:p>
          <a:p>
            <a:endParaRPr/>
          </a:p>
          <a:p>
            <a:r>
              <a:t>D:\CTS\Logos-And-Theming\output\blackgold\typora\aptlantis-black-gold.css</a:t>
            </a:r>
          </a:p>
          <a:p>
            <a:r>
              <a:t>SHA-256 246e817da512b3868ddb0dcaed306a140e447c85142663482e4ee9ef7f91316c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package defect renamed the dcterms namespace prefix while leaving xsi:type=dcterms:W3 CDTF undeclared. Correcting only core properties preserved the actual slide/theme/workbook bytes. The recorded repair checks opened six corrected workspace samples and a fresh deck with OpenAndRepair disabled. Native opening/export is evidence of compatibility; it does not prove that chart data editing and save-reopen have been manually accepted. This overview has native editable tables and explanatory text; it is a separate deliverable from the generated four-slide sample.</a:t>
            </a:r>
          </a:p>
          <a:p>
            <a:endParaRPr/>
          </a:p>
          <a:p>
            <a:r>
              <a:t>PRIMARY SOURCES (captured 2026-10-08)</a:t>
            </a:r>
          </a:p>
          <a:p>
            <a:r>
              <a:t>D:\CTS\Logos-And-Theming\docs\POWERPOINT.md</a:t>
            </a:r>
          </a:p>
          <a:p>
            <a:r>
              <a:t>SHA-256 2ee3c5cd34175829b166c07abc5385bedab7622e4745ed9e3065e6369aa844f2</a:t>
            </a:r>
          </a:p>
          <a:p>
            <a:endParaRPr/>
          </a:p>
          <a:p>
            <a:r>
              <a:t>D:\CTS\Logos-And-Theming\migration\powerpoint-metadata-repair.json</a:t>
            </a:r>
          </a:p>
          <a:p>
            <a:r>
              <a:t>SHA-256 0d8d1163c2ce78e98d4688a44d034654080a7beb585c7aebe2aebd1d19311f4c</a:t>
            </a:r>
          </a:p>
          <a:p>
            <a:endParaRPr/>
          </a:p>
          <a:p>
            <a:r>
              <a:t>D:\CTS\Logos-And-Theming\apt_theme\powerpoint.py</a:t>
            </a:r>
          </a:p>
          <a:p>
            <a:r>
              <a:t>SHA-256 e5eac5ed419cbddc7c20d1c3ea313bd1e45f178bcfe61b0a121da39494ad6300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shows candidates, canonical selection, semantic roles, target samples, derivation chains, omissions, contrast and duplicates. A previous palette can be supplied for comparison without claiming its selection is wrong. Palette IDs are references within a run. Store complete runs as revisions when retaining history: overwrite replaces the preceding completed generated run after successful staging.</a:t>
            </a:r>
          </a:p>
          <a:p>
            <a:endParaRPr/>
          </a:p>
          <a:p>
            <a:r>
              <a:t>PRIMARY SOURCES (captured 2026-10-08)</a:t>
            </a:r>
          </a:p>
          <a:p>
            <a:r>
              <a:t>D:\CTS\Logos-And-Theming\docs\COMMAND-CONTRACT.md</a:t>
            </a:r>
          </a:p>
          <a:p>
            <a:r>
              <a:t>SHA-256 943c531870f9784d3e9b0537d0aa02c20f5077b5e9975fce608e1c0d87f42dc3</a:t>
            </a:r>
          </a:p>
          <a:p>
            <a:endParaRPr/>
          </a:p>
          <a:p>
            <a:r>
              <a:t>D:\CTS\Logos-And-Theming\apt_theme\report.py</a:t>
            </a:r>
          </a:p>
          <a:p>
            <a:r>
              <a:t>SHA-256 a83e5ab4bc842cb1b71850cb92123b1d173531b4dc1137b0a43420cf4819718d</a:t>
            </a:r>
          </a:p>
          <a:p>
            <a:endParaRPr/>
          </a:p>
          <a:p>
            <a:r>
              <a:t>D:\CTS\Logos-And-Theming\output\blackgold\provenance.json</a:t>
            </a:r>
          </a:p>
          <a:p>
            <a:r>
              <a:t>SHA-256 137073708b399c2d2246dde1170dd854ce366fb62dd775bc80b1f8c5fe6f3299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Default targets are Windows Terminal,SiYuan,Typora,PowerPoint. Import preserves supplied colors and records historical role assignments while resolving current semantics. --compare supplies an old palette, --overwrite explicitly replaces a recognized generated output, --strict returns2 for contrast failure after completed artifacts are written, and argparse also uses2 for invalid syntax. Staging prevents publication of partial output on processing failure and restores the prior output if replacement fails. Generation never installs, opens or activates themes.</a:t>
            </a:r>
          </a:p>
          <a:p>
            <a:endParaRPr/>
          </a:p>
          <a:p>
            <a:r>
              <a:t>PRIMARY SOURCES (captured 2026-10-08)</a:t>
            </a:r>
          </a:p>
          <a:p>
            <a:r>
              <a:t>D:\CTS\Logos-And-Theming\docs\COMMAND-CONTRACT.md</a:t>
            </a:r>
          </a:p>
          <a:p>
            <a:r>
              <a:t>SHA-256 943c531870f9784d3e9b0537d0aa02c20f5077b5e9975fce608e1c0d87f42dc3</a:t>
            </a:r>
          </a:p>
          <a:p>
            <a:endParaRPr/>
          </a:p>
          <a:p>
            <a:r>
              <a:t>D:\CTS\Logos-And-Theming\Invoke-AptTheme.ps1</a:t>
            </a:r>
          </a:p>
          <a:p>
            <a:r>
              <a:t>SHA-256 99f8776e7ddfff413bb771e14f98d08da397440547e3e26896be19e1fe464e83</a:t>
            </a:r>
          </a:p>
          <a:p>
            <a:endParaRPr/>
          </a:p>
          <a:p>
            <a:r>
              <a:t>D:\CTS\Logos-And-Theming\apt_theme\cli.py</a:t>
            </a:r>
          </a:p>
          <a:p>
            <a:r>
              <a:t>SHA-256 73e6d4c0d8063d7107144ae87ac64f5c1c8832d95da28ffa4bca6ca47028bd38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Explicit VTracer requests must not silently fall back to embedded raster when tracing fails. SVG metadata operations preserve content outside the metadata block and embedded raster bytes. SESM requires an explicit asset root and uses configuration and canonical schema validation in its sibling project. These tools are not run automatically by ordinary theme generation. Preserve filenames, registry relationships and existing public copies.</a:t>
            </a:r>
          </a:p>
          <a:p>
            <a:endParaRPr/>
          </a:p>
          <a:p>
            <a:r>
              <a:t>PRIMARY SOURCES (captured 2026-10-08)</a:t>
            </a:r>
          </a:p>
          <a:p>
            <a:r>
              <a:t>D:\CTS\Logos-And-Theming\README.md</a:t>
            </a:r>
          </a:p>
          <a:p>
            <a:r>
              <a:t>SHA-256 126e9ea0c0c7db8306796d37ad09452a7c217095cf34803d9b8da994b841c690</a:t>
            </a:r>
          </a:p>
          <a:p>
            <a:endParaRPr/>
          </a:p>
          <a:p>
            <a:r>
              <a:t>D:\CTS\SESM-Metadata-Embedder\README.md</a:t>
            </a:r>
          </a:p>
          <a:p>
            <a:r>
              <a:t>SHA-256 df23a7392ceb9b1eca852fcbbbe3d962c28ed8e0ad58c96882a0f6559a7a9362</a:t>
            </a:r>
          </a:p>
          <a:p>
            <a:endParaRPr/>
          </a:p>
          <a:p>
            <a:r>
              <a:t>D:\CTS\Logos-And-Theming\migration\acceptance.json</a:t>
            </a:r>
          </a:p>
          <a:p>
            <a:r>
              <a:t>SHA-256 db645b0a858d2af0057bcab688cff5a22378ef0478a7f926bff646611725a3ae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Migration records are dated evidence. They preserve differing script versions and recovery paths. The retirement process checks that source files have not changed after inventory and resolves deletion targets. The existing documentation handbook uses a historical snapshot; refresh is separate work and must preserve the boundary between a reference publication and current project authority. Public deployment state is outside consolidation.</a:t>
            </a:r>
          </a:p>
          <a:p>
            <a:endParaRPr/>
          </a:p>
          <a:p>
            <a:r>
              <a:t>PRIMARY SOURCES (captured 2026-10-08)</a:t>
            </a:r>
          </a:p>
          <a:p>
            <a:r>
              <a:t>D:\CTS\Logos-And-Theming\migration\README.md</a:t>
            </a:r>
          </a:p>
          <a:p>
            <a:r>
              <a:t>SHA-256 6848533802288b130af38dd2efabf27ed5ae5fb1c7c480cc4623f30170b23524</a:t>
            </a:r>
          </a:p>
          <a:p>
            <a:endParaRPr/>
          </a:p>
          <a:p>
            <a:r>
              <a:t>D:\CTS\Logos-And-Theming\migration\acceptance.json</a:t>
            </a:r>
          </a:p>
          <a:p>
            <a:r>
              <a:t>SHA-256 db645b0a858d2af0057bcab688cff5a22378ef0478a7f926bff646611725a3ae</a:t>
            </a:r>
          </a:p>
          <a:p>
            <a:endParaRPr/>
          </a:p>
          <a:p>
            <a:r>
              <a:t>D:\CTS\Logos-And-Theming\Project-README.md</a:t>
            </a:r>
          </a:p>
          <a:p>
            <a:r>
              <a:t>SHA-256 3c47f77fdfa0801be0cc4d3837d9d6a6d38c5f1010db0df4067eb2a364244752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cites the recorded repair evidence and existing output validation, not newly rerun pipeline tests. The documentation task does not alter engine behavior. Native rendering and package validation of this overview will be recorded in its delivery evidence. Perceptual coverage is helpful for comparing selections, but cannot establish whether a background or semantic role feels right. Additional accessibility methods and broader application version testing need explicit future work.</a:t>
            </a:r>
          </a:p>
          <a:p>
            <a:endParaRPr/>
          </a:p>
          <a:p>
            <a:r>
              <a:t>PRIMARY SOURCES (captured 2026-10-08)</a:t>
            </a:r>
          </a:p>
          <a:p>
            <a:r>
              <a:t>D:\CTS\Logos-And-Theming\migration\powerpoint-metadata-repair.json</a:t>
            </a:r>
          </a:p>
          <a:p>
            <a:r>
              <a:t>SHA-256 0d8d1163c2ce78e98d4688a44d034654080a7beb585c7aebe2aebd1d19311f4c</a:t>
            </a:r>
          </a:p>
          <a:p>
            <a:endParaRPr/>
          </a:p>
          <a:p>
            <a:r>
              <a:t>D:\CTS\Logos-And-Theming\docs\VALIDATION.md</a:t>
            </a:r>
          </a:p>
          <a:p>
            <a:r>
              <a:t>SHA-256 56ef24d7373c564f03dfce1537dd875794e491c812f45656e93b0c2827ae7230</a:t>
            </a:r>
          </a:p>
          <a:p>
            <a:endParaRPr/>
          </a:p>
          <a:p>
            <a:r>
              <a:t>D:\CTS\Logos-And-Theming\output\blackgold\run.json</a:t>
            </a:r>
          </a:p>
          <a:p>
            <a:r>
              <a:t>SHA-256 f044fe4c684c54aacf1c758e0efedf174604c1d696107fbcdeaf5d42b97247c4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companion PLAN.md specifies audience, scope, chapter outlines, primary sources, ownership, dependencies and completion criteria for ten planned volumes. It also identifies the existing Writerside handbook and its2026-10-05 snapshot as reusable reference material rather than current engine authority. The plan is not a commitment to publish or install anything. Future authoring should use dated source capture, reviewed examples and explicit proof limits. This24-slide overview is the presentation entry point.</a:t>
            </a:r>
          </a:p>
          <a:p>
            <a:endParaRPr/>
          </a:p>
          <a:p>
            <a:r>
              <a:t>PRIMARY SOURCES (captured 2026-10-08)</a:t>
            </a:r>
          </a:p>
          <a:p>
            <a:r>
              <a:t>D:\CTS\Logos-And-Theming\docs\documentation-suite\PLAN.md</a:t>
            </a:r>
          </a:p>
          <a:p>
            <a:r>
              <a:t>SHA-256 ff1908232c97df7252585ae3073e6ef0688a9db2ec55bb3585798d2ff5801aa0</a:t>
            </a:r>
          </a:p>
          <a:p>
            <a:endParaRPr/>
          </a:p>
          <a:p>
            <a:r>
              <a:t>D:\.library\Writerside-Projects\Aptlantis-Logos-and-Theming\README.md</a:t>
            </a:r>
          </a:p>
          <a:p>
            <a:r>
              <a:t>SHA-256 8aee302a5d9fbb38a9e293bc5bd0dba9d6174d2b6654b274b79d2084f3720ab9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239B481-6977-4CFF-8D73-EE32B2D2B4F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6BF8C7C-B9EE-4E0B-A2E1-B3DC2271CEA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DFA7444-E19A-4BA3-9037-BC58D4EA593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B15B5F2-096F-48CF-BEE1-3B60353A6AE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CDDC26D-BB16-4AFF-85DE-87460FDA15E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3400173-142F-4F7A-B1A0-6F8E3AC53D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DD4607B-7CF0-4548-8DEF-1975FA085DC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95EF3111-36CB-4912-A289-523B6480338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E943995-1036-4B77-9668-7E9E5BB212B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FC6D202-E1D6-4858-9FA8-9C7C87480F5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D06E25-A19E-4767-8EB8-8684DE9CB324}"/>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3D4D9B86-E7A7-4E2E-A0FF-340BE1DD0A6C}"/>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01 / 24</a:t>
            </a:r>
          </a:p>
        </p:txBody>
      </p:sp>
      <p:sp>
        <p:nvSpPr>
          <p:cNvPr id="3" name="Rectangle 2">
            <a:extLst>
              <a:ext uri="{FF2B5EF4-FFF2-40B4-BE49-F238E27FC236}">
                <a16:creationId xmlns:a16="http://schemas.microsoft.com/office/drawing/2014/main" id="{228A91D2-AB62-4C23-92D2-9757CC0B6127}"/>
              </a:ext>
            </a:extLst>
          </p:cNvPr>
          <p:cNvSpPr>
            <a:spLocks noGrp="1"/>
          </p:cNvSpPr>
          <p:nvPr/>
        </p:nvSpPr>
        <p:spPr>
          <a:xfrm>
            <a:off x="609600" y="1314450"/>
            <a:ext cx="6048375" cy="1381125"/>
          </a:xfrm>
          <a:prstGeom prst="rect">
            <a:avLst/>
          </a:prstGeom>
          <a:noFill/>
          <a:ln w="0">
            <a:noFill/>
          </a:ln>
        </p:spPr>
        <p:txBody>
          <a:bodyPr/>
          <a:lstStyle>
            <a:defPPr>
              <a:defRPr sz="4800" b="1">
                <a:solidFill>
                  <a:schemeClr val="accent1"/>
                </a:solidFill>
                <a:latin typeface="Arial"/>
                <a:ea typeface="Arial"/>
                <a:cs typeface="Arial"/>
              </a:defRPr>
            </a:defPPr>
          </a:lstStyle>
          <a:p>
            <a:pPr>
              <a:defRPr sz="4800" b="1">
                <a:solidFill>
                  <a:schemeClr val="accent1"/>
                </a:solidFill>
                <a:latin typeface="Arial"/>
                <a:ea typeface="Arial"/>
                <a:cs typeface="Arial"/>
              </a:defRPr>
            </a:pPr>
            <a:r>
              <a:rPr sz="4800" b="1">
                <a:solidFill>
                  <a:schemeClr val="accent1"/>
                </a:solidFill>
                <a:latin typeface="Arial"/>
                <a:ea typeface="Arial"/>
                <a:cs typeface="Arial"/>
              </a:rPr>
              <a:t>Logos and Theming</a:t>
            </a:r>
          </a:p>
        </p:txBody>
      </p:sp>
      <p:sp>
        <p:nvSpPr>
          <p:cNvPr id="4" name="Rectangle 3">
            <a:extLst>
              <a:ext uri="{FF2B5EF4-FFF2-40B4-BE49-F238E27FC236}">
                <a16:creationId xmlns:a16="http://schemas.microsoft.com/office/drawing/2014/main" id="{0CE83453-4599-49AE-A9A0-60981B430A02}"/>
              </a:ext>
            </a:extLst>
          </p:cNvPr>
          <p:cNvSpPr>
            <a:spLocks noGrp="1"/>
          </p:cNvSpPr>
          <p:nvPr/>
        </p:nvSpPr>
        <p:spPr>
          <a:xfrm>
            <a:off x="609600" y="3000375"/>
            <a:ext cx="5857875" cy="1104900"/>
          </a:xfrm>
          <a:prstGeom prst="rect">
            <a:avLst/>
          </a:prstGeom>
          <a:noFill/>
          <a:ln w="0">
            <a:noFill/>
          </a:ln>
        </p:spPr>
        <p:txBody>
          <a:bodyPr/>
          <a:lstStyle>
            <a:defPPr>
              <a:defRPr sz="2550" b="0">
                <a:solidFill>
                  <a:schemeClr val="lt1"/>
                </a:solidFill>
                <a:latin typeface="Arial"/>
                <a:ea typeface="Arial"/>
                <a:cs typeface="Arial"/>
              </a:defRPr>
            </a:defPPr>
          </a:lstStyle>
          <a:p>
            <a:pPr>
              <a:defRPr sz="2550" b="0">
                <a:solidFill>
                  <a:schemeClr val="lt1"/>
                </a:solidFill>
                <a:latin typeface="Arial"/>
                <a:ea typeface="Arial"/>
                <a:cs typeface="Arial"/>
              </a:defRPr>
            </a:pPr>
            <a:r>
              <a:rPr sz="2550" b="0">
                <a:solidFill>
                  <a:schemeClr val="lt1"/>
                </a:solidFill>
                <a:latin typeface="Arial"/>
                <a:ea typeface="Arial"/>
                <a:cs typeface="Arial"/>
              </a:rPr>
              <a:t>From an image’s identity to useful application themes</a:t>
            </a:r>
          </a:p>
        </p:txBody>
      </p:sp>
      <p:sp>
        <p:nvSpPr>
          <p:cNvPr id="5" name="Rectangle 4">
            <a:extLst>
              <a:ext uri="{FF2B5EF4-FFF2-40B4-BE49-F238E27FC236}">
                <a16:creationId xmlns:a16="http://schemas.microsoft.com/office/drawing/2014/main" id="{365C4CC4-18B6-457A-A178-4AF0568018A5}"/>
              </a:ext>
            </a:extLst>
          </p:cNvPr>
          <p:cNvSpPr>
            <a:spLocks noGrp="1"/>
          </p:cNvSpPr>
          <p:nvPr/>
        </p:nvSpPr>
        <p:spPr>
          <a:xfrm>
            <a:off x="609600" y="4448175"/>
            <a:ext cx="5810250" cy="428625"/>
          </a:xfrm>
          <a:prstGeom prst="rect">
            <a:avLst/>
          </a:prstGeom>
          <a:noFill/>
          <a:ln w="0">
            <a:noFill/>
          </a:ln>
        </p:spPr>
        <p:txBody>
          <a:bodyPr/>
          <a:lstStyle>
            <a:defPPr>
              <a:defRPr sz="1950" b="1">
                <a:solidFill>
                  <a:schemeClr val="accent1"/>
                </a:solidFill>
                <a:latin typeface="Arial"/>
                <a:ea typeface="Arial"/>
                <a:cs typeface="Arial"/>
              </a:defRPr>
            </a:defPPr>
          </a:lstStyle>
          <a:p>
            <a:pPr>
              <a:defRPr sz="1950" b="1">
                <a:solidFill>
                  <a:schemeClr val="accent1"/>
                </a:solidFill>
                <a:latin typeface="Arial"/>
                <a:ea typeface="Arial"/>
                <a:cs typeface="Arial"/>
              </a:defRPr>
            </a:pPr>
            <a:r>
              <a:rPr sz="1950" b="1">
                <a:solidFill>
                  <a:schemeClr val="accent1"/>
                </a:solidFill>
                <a:latin typeface="Arial"/>
                <a:ea typeface="Arial"/>
                <a:cs typeface="Arial"/>
              </a:rPr>
              <a:t>A detailed project overview</a:t>
            </a:r>
          </a:p>
        </p:txBody>
      </p:sp>
      <p:sp>
        <p:nvSpPr>
          <p:cNvPr id="6" name="Rectangle 5">
            <a:extLst>
              <a:ext uri="{FF2B5EF4-FFF2-40B4-BE49-F238E27FC236}">
                <a16:creationId xmlns:a16="http://schemas.microsoft.com/office/drawing/2014/main" id="{ED584561-AAF5-4AC7-972C-7769F306371B}"/>
              </a:ext>
            </a:extLst>
          </p:cNvPr>
          <p:cNvSpPr>
            <a:spLocks noGrp="1"/>
          </p:cNvSpPr>
          <p:nvPr/>
        </p:nvSpPr>
        <p:spPr>
          <a:xfrm>
            <a:off x="609600" y="4905375"/>
            <a:ext cx="5810250" cy="828675"/>
          </a:xfrm>
          <a:prstGeom prst="rect">
            <a:avLst/>
          </a:prstGeom>
          <a:noFill/>
          <a:ln w="0">
            <a:noFill/>
          </a:ln>
        </p:spPr>
        <p:txBody>
          <a:bodyPr/>
          <a:lstStyle>
            <a:defPPr>
              <a:defRPr sz="1950" b="0">
                <a:solidFill>
                  <a:schemeClr val="lt1"/>
                </a:solidFill>
                <a:latin typeface="Arial"/>
                <a:ea typeface="Arial"/>
                <a:cs typeface="Arial"/>
              </a:defRPr>
            </a:defPPr>
          </a:lstStyle>
          <a:p>
            <a:pPr>
              <a:defRPr sz="1950" b="0">
                <a:solidFill>
                  <a:schemeClr val="lt1"/>
                </a:solidFill>
                <a:latin typeface="Arial"/>
                <a:ea typeface="Arial"/>
                <a:cs typeface="Arial"/>
              </a:defRPr>
            </a:pPr>
            <a:r>
              <a:rPr sz="1950" b="0">
                <a:solidFill>
                  <a:schemeClr val="lt1"/>
                </a:solidFill>
                <a:latin typeface="Arial"/>
                <a:ea typeface="Arial"/>
                <a:cs typeface="Arial"/>
              </a:rPr>
              <a:t>Architecture, color decisions, application contracts and recoverable consolidation.</a:t>
            </a:r>
          </a:p>
        </p:txBody>
      </p:sp>
      <p:pic>
        <p:nvPicPr>
          <p:cNvPr id="7" name="Picture 6">
            <a:extLst>
              <a:ext uri="{FF2B5EF4-FFF2-40B4-BE49-F238E27FC236}">
                <a16:creationId xmlns:a16="http://schemas.microsoft.com/office/drawing/2014/main" id="{0CE4756D-9C95-4CF4-8D9E-9D40C04D49D3}"/>
              </a:ext>
            </a:extLst>
          </p:cNvPr>
          <p:cNvPicPr>
            <a:picLocks noChangeAspect="1"/>
          </p:cNvPicPr>
          <p:nvPr/>
        </p:nvPicPr>
        <p:blipFill>
          <a:blip r:embed="rId3"/>
          <a:stretch/>
        </p:blipFill>
        <p:spPr>
          <a:xfrm>
            <a:off x="6962775" y="1123950"/>
            <a:ext cx="4619625" cy="4619625"/>
          </a:xfrm>
          <a:prstGeom prst="rect">
            <a:avLst/>
          </a:prstGeom>
        </p:spPr>
      </p:pic>
      <p:sp>
        <p:nvSpPr>
          <p:cNvPr id="8" name="Rectangle 7">
            <a:extLst>
              <a:ext uri="{FF2B5EF4-FFF2-40B4-BE49-F238E27FC236}">
                <a16:creationId xmlns:a16="http://schemas.microsoft.com/office/drawing/2014/main" id="{1DE5C038-1E4B-4BC3-8BE0-1B8729E4693E}"/>
              </a:ext>
            </a:extLst>
          </p:cNvPr>
          <p:cNvSpPr>
            <a:spLocks noGrp="1"/>
          </p:cNvSpPr>
          <p:nvPr/>
        </p:nvSpPr>
        <p:spPr>
          <a:xfrm>
            <a:off x="609600" y="6143625"/>
            <a:ext cx="9525000" cy="304800"/>
          </a:xfrm>
          <a:prstGeom prst="rect">
            <a:avLst/>
          </a:prstGeom>
          <a:noFill/>
          <a:ln w="0">
            <a:noFill/>
          </a:ln>
        </p:spPr>
        <p:txBody>
          <a:bodyPr/>
          <a:lstStyle>
            <a:defPPr>
              <a:defRPr sz="1500" b="0">
                <a:solidFill>
                  <a:schemeClr val="accent2"/>
                </a:solidFill>
                <a:latin typeface="Arial"/>
                <a:ea typeface="Arial"/>
                <a:cs typeface="Arial"/>
              </a:defRPr>
            </a:defPPr>
          </a:lstStyle>
          <a:p>
            <a:pPr>
              <a:defRPr sz="1500" b="0">
                <a:solidFill>
                  <a:schemeClr val="accent2"/>
                </a:solidFill>
                <a:latin typeface="Arial"/>
                <a:ea typeface="Arial"/>
                <a:cs typeface="Arial"/>
              </a:defRPr>
            </a:pPr>
            <a:r>
              <a:rPr sz="1500" b="0">
                <a:solidFill>
                  <a:schemeClr val="accent2"/>
                </a:solidFill>
                <a:latin typeface="Arial"/>
                <a:ea typeface="Arial"/>
                <a:cs typeface="Arial"/>
              </a:rPr>
              <a:t>Black-Gold edition · 8 October 2026</a:t>
            </a:r>
          </a:p>
        </p:txBody>
      </p:sp>
    </p:spTree>
    <p:extLst>
      <p:ext uri="{BB962C8B-B14F-4D97-AF65-F5344CB8AC3E}">
        <p14:creationId xmlns:p14="http://schemas.microsoft.com/office/powerpoint/2010/main" val="1478002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818795A-24CA-44B0-B73A-2DA75A084E6A}"/>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FE65DD73-AF13-4F3B-B88A-001D23C3FF15}"/>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02 / 24</a:t>
            </a:r>
          </a:p>
        </p:txBody>
      </p:sp>
      <p:sp>
        <p:nvSpPr>
          <p:cNvPr id="3" name="Rectangle 2">
            <a:extLst>
              <a:ext uri="{FF2B5EF4-FFF2-40B4-BE49-F238E27FC236}">
                <a16:creationId xmlns:a16="http://schemas.microsoft.com/office/drawing/2014/main" id="{8C76F171-5E12-4D8A-B91C-F705084326F7}"/>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One pipeline, three kinds of decisions</a:t>
            </a:r>
          </a:p>
        </p:txBody>
      </p:sp>
      <p:sp>
        <p:nvSpPr>
          <p:cNvPr id="4" name="Rectangle 3">
            <a:extLst>
              <a:ext uri="{FF2B5EF4-FFF2-40B4-BE49-F238E27FC236}">
                <a16:creationId xmlns:a16="http://schemas.microsoft.com/office/drawing/2014/main" id="{CB7892B8-9F20-4007-8012-2C519F327718}"/>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 color can be faithful to an image and still be wrong for a role.</a:t>
            </a:r>
          </a:p>
        </p:txBody>
      </p:sp>
      <p:sp>
        <p:nvSpPr>
          <p:cNvPr id="5" name="Rectangle 4">
            <a:extLst>
              <a:ext uri="{FF2B5EF4-FFF2-40B4-BE49-F238E27FC236}">
                <a16:creationId xmlns:a16="http://schemas.microsoft.com/office/drawing/2014/main" id="{D06BCDF5-055F-4BB5-9602-79122A854C34}"/>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Extraction</a:t>
            </a:r>
          </a:p>
        </p:txBody>
      </p:sp>
      <p:sp>
        <p:nvSpPr>
          <p:cNvPr id="6" name="Rectangle 5">
            <a:extLst>
              <a:ext uri="{FF2B5EF4-FFF2-40B4-BE49-F238E27FC236}">
                <a16:creationId xmlns:a16="http://schemas.microsoft.com/office/drawing/2014/main" id="{C2DD6802-3BE9-4848-9FA4-34CE57813332}"/>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Which observed colors represent the image?</a:t>
            </a:r>
          </a:p>
        </p:txBody>
      </p:sp>
      <p:sp>
        <p:nvSpPr>
          <p:cNvPr id="7" name="Rectangle 6">
            <a:extLst>
              <a:ext uri="{FF2B5EF4-FFF2-40B4-BE49-F238E27FC236}">
                <a16:creationId xmlns:a16="http://schemas.microsoft.com/office/drawing/2014/main" id="{2CF9828E-83C7-4D11-B877-1410D9A396CB}"/>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Meaning</a:t>
            </a:r>
          </a:p>
        </p:txBody>
      </p:sp>
      <p:sp>
        <p:nvSpPr>
          <p:cNvPr id="8" name="Rectangle 7">
            <a:extLst>
              <a:ext uri="{FF2B5EF4-FFF2-40B4-BE49-F238E27FC236}">
                <a16:creationId xmlns:a16="http://schemas.microsoft.com/office/drawing/2014/main" id="{15627ACE-688B-4137-BB99-B13693889BB9}"/>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Which colors can serve as surfaces, text, accents and status signals?</a:t>
            </a:r>
          </a:p>
        </p:txBody>
      </p:sp>
      <p:sp>
        <p:nvSpPr>
          <p:cNvPr id="9" name="Rectangle 8">
            <a:extLst>
              <a:ext uri="{FF2B5EF4-FFF2-40B4-BE49-F238E27FC236}">
                <a16:creationId xmlns:a16="http://schemas.microsoft.com/office/drawing/2014/main" id="{CE89B3C8-7B1D-42CF-B62F-74C1971C251A}"/>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Application behavior</a:t>
            </a:r>
          </a:p>
        </p:txBody>
      </p:sp>
      <p:sp>
        <p:nvSpPr>
          <p:cNvPr id="10" name="Rectangle 9">
            <a:extLst>
              <a:ext uri="{FF2B5EF4-FFF2-40B4-BE49-F238E27FC236}">
                <a16:creationId xmlns:a16="http://schemas.microsoft.com/office/drawing/2014/main" id="{81B9DE54-857C-411D-BA94-D790B70423ED}"/>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Which combinations remain useful in each target’s native constraints?</a:t>
            </a:r>
          </a:p>
        </p:txBody>
      </p:sp>
      <p:sp>
        <p:nvSpPr>
          <p:cNvPr id="11" name="Rectangle 10">
            <a:extLst>
              <a:ext uri="{FF2B5EF4-FFF2-40B4-BE49-F238E27FC236}">
                <a16:creationId xmlns:a16="http://schemas.microsoft.com/office/drawing/2014/main" id="{0707B206-4D77-4C2B-8B88-8304311D5E9A}"/>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ED9510C3-AC13-49CC-89AC-C2808069BC91}"/>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33537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6F01A4-39DB-4ACF-9DF9-45D158B48725}"/>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17340C1B-09F3-4844-AED6-09DEC500196F}"/>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03 / 24</a:t>
            </a:r>
          </a:p>
        </p:txBody>
      </p:sp>
      <p:sp>
        <p:nvSpPr>
          <p:cNvPr id="3" name="Rectangle 2">
            <a:extLst>
              <a:ext uri="{FF2B5EF4-FFF2-40B4-BE49-F238E27FC236}">
                <a16:creationId xmlns:a16="http://schemas.microsoft.com/office/drawing/2014/main" id="{88780AE3-2D65-402B-A46C-D7BC54C36703}"/>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Consolidation preserves the history</a:t>
            </a:r>
          </a:p>
        </p:txBody>
      </p:sp>
      <p:sp>
        <p:nvSpPr>
          <p:cNvPr id="4" name="Rectangle 3">
            <a:extLst>
              <a:ext uri="{FF2B5EF4-FFF2-40B4-BE49-F238E27FC236}">
                <a16:creationId xmlns:a16="http://schemas.microsoft.com/office/drawing/2014/main" id="{AF1EE307-9679-45E5-BD60-537D42BF08A6}"/>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The new projects organize work that grew in several places.</a:t>
            </a:r>
          </a:p>
        </p:txBody>
      </p:sp>
      <p:graphicFrame>
        <p:nvGraphicFramePr>
          <p:cNvPr id="5" name="Table 4">
            <a:extLst>
              <a:ext uri="{FF2B5EF4-FFF2-40B4-BE49-F238E27FC236}">
                <a16:creationId xmlns:a16="http://schemas.microsoft.com/office/drawing/2014/main" id="{756F45CE-A037-44E0-976A-7518B661A9ED}"/>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742950">
                <a:tc>
                  <a:txBody>
                    <a:bodyPr/>
                    <a:lstStyle/>
                    <a:p>
                      <a:r>
                        <a:rPr sz="1875" b="1">
                          <a:solidFill>
                            <a:schemeClr val="accent1"/>
                          </a:solidFill>
                          <a:latin typeface="Arial"/>
                          <a:ea typeface="Arial"/>
                          <a:cs typeface="Arial"/>
                        </a:rPr>
                        <a:t>Former location</a:t>
                      </a:r>
                    </a:p>
                  </a:txBody>
                  <a:tcPr marL="133350" marR="133350" marT="76200" marB="57150">
                    <a:solidFill>
                      <a:schemeClr val="dk2"/>
                    </a:solidFill>
                  </a:tcPr>
                </a:tc>
                <a:tc>
                  <a:txBody>
                    <a:bodyPr/>
                    <a:lstStyle/>
                    <a:p>
                      <a:r>
                        <a:rPr sz="1875" b="1">
                          <a:solidFill>
                            <a:schemeClr val="accent1"/>
                          </a:solidFill>
                          <a:latin typeface="Arial"/>
                          <a:ea typeface="Arial"/>
                          <a:cs typeface="Arial"/>
                        </a:rPr>
                        <a:t>Disposition</a:t>
                      </a:r>
                    </a:p>
                  </a:txBody>
                  <a:tcPr marL="133350" marR="133350" marT="76200" marB="57150">
                    <a:solidFill>
                      <a:schemeClr val="dk2"/>
                    </a:solidFill>
                  </a:tcPr>
                </a:tc>
                <a:extLst>
                  <a:ext uri="{0D108BD9-81ED-4DB2-BD59-A6C34878D82A}">
                    <a16:rowId xmlns:a16="http://schemas.microsoft.com/office/drawing/2014/main" val="10000"/>
                  </a:ext>
                </a:extLst>
              </a:tr>
              <a:tr h="742950">
                <a:tc>
                  <a:txBody>
                    <a:bodyPr/>
                    <a:lstStyle/>
                    <a:p>
                      <a:r>
                        <a:rPr sz="1875" b="0">
                          <a:solidFill>
                            <a:schemeClr val="lt1"/>
                          </a:solidFill>
                          <a:latin typeface="Arial"/>
                          <a:ea typeface="Arial"/>
                          <a:cs typeface="Arial"/>
                        </a:rPr>
                        <a:t>Lang-Theme-Generator</a:t>
                      </a:r>
                    </a:p>
                  </a:txBody>
                  <a:tcPr marL="133350" marR="133350" marT="76200" marB="57150">
                    <a:solidFill>
                      <a:schemeClr val="dk1"/>
                    </a:solidFill>
                  </a:tcPr>
                </a:tc>
                <a:tc>
                  <a:txBody>
                    <a:bodyPr/>
                    <a:lstStyle/>
                    <a:p>
                      <a:r>
                        <a:rPr sz="1875" b="0">
                          <a:solidFill>
                            <a:schemeClr val="lt1"/>
                          </a:solidFill>
                          <a:latin typeface="Arial"/>
                          <a:ea typeface="Arial"/>
                          <a:cs typeface="Arial"/>
                        </a:rPr>
                        <a:t>Engine and legacy generation history</a:t>
                      </a:r>
                    </a:p>
                  </a:txBody>
                  <a:tcPr marL="133350" marR="133350" marT="76200" marB="57150">
                    <a:solidFill>
                      <a:schemeClr val="dk1"/>
                    </a:solidFill>
                  </a:tcPr>
                </a:tc>
                <a:extLst>
                  <a:ext uri="{0D108BD9-81ED-4DB2-BD59-A6C34878D82A}">
                    <a16:rowId xmlns:a16="http://schemas.microsoft.com/office/drawing/2014/main" val="10001"/>
                  </a:ext>
                </a:extLst>
              </a:tr>
              <a:tr h="742950">
                <a:tc>
                  <a:txBody>
                    <a:bodyPr/>
                    <a:lstStyle/>
                    <a:p>
                      <a:r>
                        <a:rPr sz="1875" b="0">
                          <a:solidFill>
                            <a:schemeClr val="lt1"/>
                          </a:solidFill>
                          <a:latin typeface="Arial"/>
                          <a:ea typeface="Arial"/>
                          <a:cs typeface="Arial"/>
                        </a:rPr>
                        <a:t>Aptlantis Logos</a:t>
                      </a:r>
                    </a:p>
                  </a:txBody>
                  <a:tcPr marL="133350" marR="133350" marT="76200" marB="57150">
                    <a:solidFill>
                      <a:schemeClr val="dk1"/>
                    </a:solidFill>
                  </a:tcPr>
                </a:tc>
                <a:tc>
                  <a:txBody>
                    <a:bodyPr/>
                    <a:lstStyle/>
                    <a:p>
                      <a:r>
                        <a:rPr sz="1875" b="0">
                          <a:solidFill>
                            <a:schemeClr val="lt1"/>
                          </a:solidFill>
                          <a:latin typeface="Arial"/>
                          <a:ea typeface="Arial"/>
                          <a:cs typeface="Arial"/>
                        </a:rPr>
                        <a:t>Artwork, catalogs and converters</a:t>
                      </a:r>
                    </a:p>
                  </a:txBody>
                  <a:tcPr marL="133350" marR="133350" marT="76200" marB="57150">
                    <a:solidFill>
                      <a:schemeClr val="dk1"/>
                    </a:solidFill>
                  </a:tcPr>
                </a:tc>
                <a:extLst>
                  <a:ext uri="{0D108BD9-81ED-4DB2-BD59-A6C34878D82A}">
                    <a16:rowId xmlns:a16="http://schemas.microsoft.com/office/drawing/2014/main" val="10002"/>
                  </a:ext>
                </a:extLst>
              </a:tr>
              <a:tr h="742950">
                <a:tc>
                  <a:txBody>
                    <a:bodyPr/>
                    <a:lstStyle/>
                    <a:p>
                      <a:r>
                        <a:rPr sz="1875" b="0">
                          <a:solidFill>
                            <a:schemeClr val="lt1"/>
                          </a:solidFill>
                          <a:latin typeface="Arial"/>
                          <a:ea typeface="Arial"/>
                          <a:cs typeface="Arial"/>
                        </a:rPr>
                        <a:t>.cts_holding/palette-transformer</a:t>
                      </a:r>
                    </a:p>
                  </a:txBody>
                  <a:tcPr marL="133350" marR="133350" marT="76200" marB="57150">
                    <a:solidFill>
                      <a:schemeClr val="dk1"/>
                    </a:solidFill>
                  </a:tcPr>
                </a:tc>
                <a:tc>
                  <a:txBody>
                    <a:bodyPr/>
                    <a:lstStyle/>
                    <a:p>
                      <a:r>
                        <a:rPr sz="1875" b="0">
                          <a:solidFill>
                            <a:schemeClr val="lt1"/>
                          </a:solidFill>
                          <a:latin typeface="Arial"/>
                          <a:ea typeface="Arial"/>
                          <a:cs typeface="Arial"/>
                        </a:rPr>
                        <a:t>Transformation tools and differing versions</a:t>
                      </a:r>
                    </a:p>
                  </a:txBody>
                  <a:tcPr marL="133350" marR="133350" marT="76200" marB="57150">
                    <a:solidFill>
                      <a:schemeClr val="dk1"/>
                    </a:solidFill>
                  </a:tcPr>
                </a:tc>
                <a:extLst>
                  <a:ext uri="{0D108BD9-81ED-4DB2-BD59-A6C34878D82A}">
                    <a16:rowId xmlns:a16="http://schemas.microsoft.com/office/drawing/2014/main" val="10003"/>
                  </a:ext>
                </a:extLst>
              </a:tr>
              <a:tr h="742950">
                <a:tc>
                  <a:txBody>
                    <a:bodyPr/>
                    <a:lstStyle/>
                    <a:p>
                      <a:r>
                        <a:rPr sz="1875" b="0">
                          <a:solidFill>
                            <a:schemeClr val="lt1"/>
                          </a:solidFill>
                          <a:latin typeface="Arial"/>
                          <a:ea typeface="Arial"/>
                          <a:cs typeface="Arial"/>
                        </a:rPr>
                        <a:t>Documents working collection</a:t>
                      </a:r>
                    </a:p>
                  </a:txBody>
                  <a:tcPr marL="133350" marR="133350" marT="76200" marB="57150">
                    <a:solidFill>
                      <a:schemeClr val="dk1"/>
                    </a:solidFill>
                  </a:tcPr>
                </a:tc>
                <a:tc>
                  <a:txBody>
                    <a:bodyPr/>
                    <a:lstStyle/>
                    <a:p>
                      <a:r>
                        <a:rPr sz="1875" b="0">
                          <a:solidFill>
                            <a:schemeClr val="lt1"/>
                          </a:solidFill>
                          <a:latin typeface="Arial"/>
                          <a:ea typeface="Arial"/>
                          <a:cs typeface="Arial"/>
                        </a:rPr>
                        <a:t>Historical outputs, source assets and configuration</a:t>
                      </a:r>
                    </a:p>
                  </a:txBody>
                  <a:tcPr marL="133350" marR="133350" marT="76200" marB="57150">
                    <a:solidFill>
                      <a:schemeClr val="dk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3D7D4C05-0BC4-4602-B93B-1F56DBBF6CF1}"/>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DC4EF6B2-30E7-46C7-85D4-69FA463F3BF7}"/>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84887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066DF8-F3CB-4F09-B55C-6EEFBF2DB1CD}"/>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AF2FFA90-9382-4116-9829-E6B867BE374B}"/>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04 / 24</a:t>
            </a:r>
          </a:p>
        </p:txBody>
      </p:sp>
      <p:sp>
        <p:nvSpPr>
          <p:cNvPr id="3" name="Rectangle 2">
            <a:extLst>
              <a:ext uri="{FF2B5EF4-FFF2-40B4-BE49-F238E27FC236}">
                <a16:creationId xmlns:a16="http://schemas.microsoft.com/office/drawing/2014/main" id="{F1F37EB9-8D57-4ABD-B502-60EE19FA2430}"/>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Ownership is part of the design</a:t>
            </a:r>
          </a:p>
        </p:txBody>
      </p:sp>
      <p:sp>
        <p:nvSpPr>
          <p:cNvPr id="4" name="Rectangle 3">
            <a:extLst>
              <a:ext uri="{FF2B5EF4-FFF2-40B4-BE49-F238E27FC236}">
                <a16:creationId xmlns:a16="http://schemas.microsoft.com/office/drawing/2014/main" id="{935E5378-778E-4DC5-9D2A-A7C1DDF3503A}"/>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 shared workflow does not require one project to own everything.</a:t>
            </a:r>
          </a:p>
        </p:txBody>
      </p:sp>
      <p:graphicFrame>
        <p:nvGraphicFramePr>
          <p:cNvPr id="5" name="Table 4">
            <a:extLst>
              <a:ext uri="{FF2B5EF4-FFF2-40B4-BE49-F238E27FC236}">
                <a16:creationId xmlns:a16="http://schemas.microsoft.com/office/drawing/2014/main" id="{F2803242-6F37-4981-8D96-94630625E452}"/>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742950">
                <a:tc>
                  <a:txBody>
                    <a:bodyPr/>
                    <a:lstStyle/>
                    <a:p>
                      <a:r>
                        <a:rPr sz="1875" b="1">
                          <a:solidFill>
                            <a:schemeClr val="accent1"/>
                          </a:solidFill>
                          <a:latin typeface="Arial"/>
                          <a:ea typeface="Arial"/>
                          <a:cs typeface="Arial"/>
                        </a:rPr>
                        <a:t>Owner</a:t>
                      </a:r>
                    </a:p>
                  </a:txBody>
                  <a:tcPr marL="133350" marR="133350" marT="76200" marB="57150">
                    <a:solidFill>
                      <a:schemeClr val="dk2"/>
                    </a:solidFill>
                  </a:tcPr>
                </a:tc>
                <a:tc>
                  <a:txBody>
                    <a:bodyPr/>
                    <a:lstStyle/>
                    <a:p>
                      <a:r>
                        <a:rPr sz="1875" b="1">
                          <a:solidFill>
                            <a:schemeClr val="accent1"/>
                          </a:solidFill>
                          <a:latin typeface="Arial"/>
                          <a:ea typeface="Arial"/>
                          <a:cs typeface="Arial"/>
                        </a:rPr>
                        <a:t>Responsibility</a:t>
                      </a:r>
                    </a:p>
                  </a:txBody>
                  <a:tcPr marL="133350" marR="133350" marT="76200" marB="57150">
                    <a:solidFill>
                      <a:schemeClr val="dk2"/>
                    </a:solidFill>
                  </a:tcPr>
                </a:tc>
                <a:extLst>
                  <a:ext uri="{0D108BD9-81ED-4DB2-BD59-A6C34878D82A}">
                    <a16:rowId xmlns:a16="http://schemas.microsoft.com/office/drawing/2014/main" val="10000"/>
                  </a:ext>
                </a:extLst>
              </a:tr>
              <a:tr h="742950">
                <a:tc>
                  <a:txBody>
                    <a:bodyPr/>
                    <a:lstStyle/>
                    <a:p>
                      <a:r>
                        <a:rPr sz="1875" b="0">
                          <a:solidFill>
                            <a:schemeClr val="lt1"/>
                          </a:solidFill>
                          <a:latin typeface="Arial"/>
                          <a:ea typeface="Arial"/>
                          <a:cs typeface="Arial"/>
                        </a:rPr>
                        <a:t>Logos-And-Theming</a:t>
                      </a:r>
                    </a:p>
                  </a:txBody>
                  <a:tcPr marL="133350" marR="133350" marT="76200" marB="57150">
                    <a:solidFill>
                      <a:schemeClr val="dk1"/>
                    </a:solidFill>
                  </a:tcPr>
                </a:tc>
                <a:tc>
                  <a:txBody>
                    <a:bodyPr/>
                    <a:lstStyle/>
                    <a:p>
                      <a:r>
                        <a:rPr sz="1875" b="0">
                          <a:solidFill>
                            <a:schemeClr val="lt1"/>
                          </a:solidFill>
                          <a:latin typeface="Arial"/>
                          <a:ea typeface="Arial"/>
                          <a:cs typeface="Arial"/>
                        </a:rPr>
                        <a:t>Theme engine, artwork/catalogs, ICO/SVG converters, atlas</a:t>
                      </a:r>
                    </a:p>
                  </a:txBody>
                  <a:tcPr marL="133350" marR="133350" marT="76200" marB="57150">
                    <a:solidFill>
                      <a:schemeClr val="dk1"/>
                    </a:solidFill>
                  </a:tcPr>
                </a:tc>
                <a:extLst>
                  <a:ext uri="{0D108BD9-81ED-4DB2-BD59-A6C34878D82A}">
                    <a16:rowId xmlns:a16="http://schemas.microsoft.com/office/drawing/2014/main" val="10001"/>
                  </a:ext>
                </a:extLst>
              </a:tr>
              <a:tr h="742950">
                <a:tc>
                  <a:txBody>
                    <a:bodyPr/>
                    <a:lstStyle/>
                    <a:p>
                      <a:r>
                        <a:rPr sz="1875" b="0">
                          <a:solidFill>
                            <a:schemeClr val="lt1"/>
                          </a:solidFill>
                          <a:latin typeface="Arial"/>
                          <a:ea typeface="Arial"/>
                          <a:cs typeface="Arial"/>
                        </a:rPr>
                        <a:t>SESM-Metadata-Embedder</a:t>
                      </a:r>
                    </a:p>
                  </a:txBody>
                  <a:tcPr marL="133350" marR="133350" marT="76200" marB="57150">
                    <a:solidFill>
                      <a:schemeClr val="dk1"/>
                    </a:solidFill>
                  </a:tcPr>
                </a:tc>
                <a:tc>
                  <a:txBody>
                    <a:bodyPr/>
                    <a:lstStyle/>
                    <a:p>
                      <a:r>
                        <a:rPr sz="1875" b="0">
                          <a:solidFill>
                            <a:schemeClr val="lt1"/>
                          </a:solidFill>
                          <a:latin typeface="Arial"/>
                          <a:ea typeface="Arial"/>
                          <a:cs typeface="Arial"/>
                        </a:rPr>
                        <a:t>SVG metadata, configuration, schema checks, embedding tests</a:t>
                      </a:r>
                    </a:p>
                  </a:txBody>
                  <a:tcPr marL="133350" marR="133350" marT="76200" marB="57150">
                    <a:solidFill>
                      <a:schemeClr val="dk1"/>
                    </a:solidFill>
                  </a:tcPr>
                </a:tc>
                <a:extLst>
                  <a:ext uri="{0D108BD9-81ED-4DB2-BD59-A6C34878D82A}">
                    <a16:rowId xmlns:a16="http://schemas.microsoft.com/office/drawing/2014/main" val="10002"/>
                  </a:ext>
                </a:extLst>
              </a:tr>
              <a:tr h="742950">
                <a:tc>
                  <a:txBody>
                    <a:bodyPr/>
                    <a:lstStyle/>
                    <a:p>
                      <a:r>
                        <a:rPr sz="1875" b="0">
                          <a:solidFill>
                            <a:schemeClr val="lt1"/>
                          </a:solidFill>
                          <a:latin typeface="Arial"/>
                          <a:ea typeface="Arial"/>
                          <a:cs typeface="Arial"/>
                        </a:rPr>
                        <a:t>City Hall</a:t>
                      </a:r>
                    </a:p>
                  </a:txBody>
                  <a:tcPr marL="133350" marR="133350" marT="76200" marB="57150">
                    <a:solidFill>
                      <a:schemeClr val="dk1"/>
                    </a:solidFill>
                  </a:tcPr>
                </a:tc>
                <a:tc>
                  <a:txBody>
                    <a:bodyPr/>
                    <a:lstStyle/>
                    <a:p>
                      <a:r>
                        <a:rPr sz="1875" b="0">
                          <a:solidFill>
                            <a:schemeClr val="lt1"/>
                          </a:solidFill>
                          <a:latin typeface="Arial"/>
                          <a:ea typeface="Arial"/>
                          <a:cs typeface="Arial"/>
                        </a:rPr>
                        <a:t>Canonical standards and schemas</a:t>
                      </a:r>
                    </a:p>
                  </a:txBody>
                  <a:tcPr marL="133350" marR="133350" marT="76200" marB="57150">
                    <a:solidFill>
                      <a:schemeClr val="dk1"/>
                    </a:solidFill>
                  </a:tcPr>
                </a:tc>
                <a:extLst>
                  <a:ext uri="{0D108BD9-81ED-4DB2-BD59-A6C34878D82A}">
                    <a16:rowId xmlns:a16="http://schemas.microsoft.com/office/drawing/2014/main" val="10003"/>
                  </a:ext>
                </a:extLst>
              </a:tr>
              <a:tr h="742950">
                <a:tc>
                  <a:txBody>
                    <a:bodyPr/>
                    <a:lstStyle/>
                    <a:p>
                      <a:r>
                        <a:rPr sz="1875" b="0">
                          <a:solidFill>
                            <a:schemeClr val="lt1"/>
                          </a:solidFill>
                          <a:latin typeface="Arial"/>
                          <a:ea typeface="Arial"/>
                          <a:cs typeface="Arial"/>
                        </a:rPr>
                        <a:t>Public asset copies</a:t>
                      </a:r>
                    </a:p>
                  </a:txBody>
                  <a:tcPr marL="133350" marR="133350" marT="76200" marB="57150">
                    <a:solidFill>
                      <a:schemeClr val="dk1"/>
                    </a:solidFill>
                  </a:tcPr>
                </a:tc>
                <a:tc>
                  <a:txBody>
                    <a:bodyPr/>
                    <a:lstStyle/>
                    <a:p>
                      <a:r>
                        <a:rPr sz="1875" b="0">
                          <a:solidFill>
                            <a:schemeClr val="lt1"/>
                          </a:solidFill>
                          <a:latin typeface="Arial"/>
                          <a:ea typeface="Arial"/>
                          <a:cs typeface="Arial"/>
                        </a:rPr>
                        <a:t>Existing publication and deployment state</a:t>
                      </a:r>
                    </a:p>
                  </a:txBody>
                  <a:tcPr marL="133350" marR="133350" marT="76200" marB="57150">
                    <a:solidFill>
                      <a:schemeClr val="dk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B00C81A5-C720-4A77-A030-6B76FA2E11EC}"/>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4F916FEE-80A1-4E17-A20C-0E3E69C6DB54}"/>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2076445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1D9220-9D3B-42DB-A66A-25156FB6CF99}"/>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FE3D80F7-1147-4CB0-9D14-E7EF388C7CA3}"/>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05 / 24</a:t>
            </a:r>
          </a:p>
        </p:txBody>
      </p:sp>
      <p:sp>
        <p:nvSpPr>
          <p:cNvPr id="3" name="Rectangle 2">
            <a:extLst>
              <a:ext uri="{FF2B5EF4-FFF2-40B4-BE49-F238E27FC236}">
                <a16:creationId xmlns:a16="http://schemas.microsoft.com/office/drawing/2014/main" id="{8CB2C464-1042-458B-A31D-F87ADEE57BB0}"/>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The six-stage flow</a:t>
            </a:r>
          </a:p>
        </p:txBody>
      </p:sp>
      <p:sp>
        <p:nvSpPr>
          <p:cNvPr id="4" name="Rectangle 3">
            <a:extLst>
              <a:ext uri="{FF2B5EF4-FFF2-40B4-BE49-F238E27FC236}">
                <a16:creationId xmlns:a16="http://schemas.microsoft.com/office/drawing/2014/main" id="{3F735E32-BF8C-4D37-8204-F1C5872D3A20}"/>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Every boundary produces something inspectable.</a:t>
            </a:r>
          </a:p>
        </p:txBody>
      </p:sp>
      <p:graphicFrame>
        <p:nvGraphicFramePr>
          <p:cNvPr id="5" name="Table 4">
            <a:extLst>
              <a:ext uri="{FF2B5EF4-FFF2-40B4-BE49-F238E27FC236}">
                <a16:creationId xmlns:a16="http://schemas.microsoft.com/office/drawing/2014/main" id="{8C1E3AC0-393E-43A9-9AC9-9424F043F0D8}"/>
              </a:ext>
            </a:extLst>
          </p:cNvPr>
          <p:cNvGraphicFramePr/>
          <p:nvPr/>
        </p:nvGraphicFramePr>
        <p:xfrm>
          <a:off x="609600" y="2114550"/>
          <a:ext cx="10972800" cy="39433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563336">
                <a:tc>
                  <a:txBody>
                    <a:bodyPr/>
                    <a:lstStyle/>
                    <a:p>
                      <a:r>
                        <a:rPr sz="1875" b="1">
                          <a:solidFill>
                            <a:schemeClr val="accent1"/>
                          </a:solidFill>
                          <a:latin typeface="Arial"/>
                          <a:ea typeface="Arial"/>
                          <a:cs typeface="Arial"/>
                        </a:rPr>
                        <a:t>Stage</a:t>
                      </a:r>
                    </a:p>
                  </a:txBody>
                  <a:tcPr marL="133350" marR="133350" marT="76200" marB="57150">
                    <a:solidFill>
                      <a:schemeClr val="dk2"/>
                    </a:solidFill>
                  </a:tcPr>
                </a:tc>
                <a:tc>
                  <a:txBody>
                    <a:bodyPr/>
                    <a:lstStyle/>
                    <a:p>
                      <a:r>
                        <a:rPr sz="1875" b="1">
                          <a:solidFill>
                            <a:schemeClr val="accent1"/>
                          </a:solidFill>
                          <a:latin typeface="Arial"/>
                          <a:ea typeface="Arial"/>
                          <a:cs typeface="Arial"/>
                        </a:rPr>
                        <a:t>Decision / output</a:t>
                      </a:r>
                    </a:p>
                  </a:txBody>
                  <a:tcPr marL="133350" marR="133350" marT="76200" marB="57150">
                    <a:solidFill>
                      <a:schemeClr val="dk2"/>
                    </a:solidFill>
                  </a:tcPr>
                </a:tc>
                <a:extLst>
                  <a:ext uri="{0D108BD9-81ED-4DB2-BD59-A6C34878D82A}">
                    <a16:rowId xmlns:a16="http://schemas.microsoft.com/office/drawing/2014/main" val="10000"/>
                  </a:ext>
                </a:extLst>
              </a:tr>
              <a:tr h="563336">
                <a:tc>
                  <a:txBody>
                    <a:bodyPr/>
                    <a:lstStyle/>
                    <a:p>
                      <a:r>
                        <a:rPr sz="1875" b="0">
                          <a:solidFill>
                            <a:schemeClr val="lt1"/>
                          </a:solidFill>
                          <a:latin typeface="Arial"/>
                          <a:ea typeface="Arial"/>
                          <a:cs typeface="Arial"/>
                        </a:rPr>
                        <a:t>1 · Image</a:t>
                      </a:r>
                    </a:p>
                  </a:txBody>
                  <a:tcPr marL="133350" marR="133350" marT="76200" marB="57150">
                    <a:solidFill>
                      <a:schemeClr val="dk1"/>
                    </a:solidFill>
                  </a:tcPr>
                </a:tc>
                <a:tc>
                  <a:txBody>
                    <a:bodyPr/>
                    <a:lstStyle/>
                    <a:p>
                      <a:r>
                        <a:rPr sz="1875" b="0">
                          <a:solidFill>
                            <a:schemeClr val="lt1"/>
                          </a:solidFill>
                          <a:latin typeface="Arial"/>
                          <a:ea typeface="Arial"/>
                          <a:cs typeface="Arial"/>
                        </a:rPr>
                        <a:t>Preserved bytes, hash, normalized pixels</a:t>
                      </a:r>
                    </a:p>
                  </a:txBody>
                  <a:tcPr marL="133350" marR="133350" marT="76200" marB="57150">
                    <a:solidFill>
                      <a:schemeClr val="dk1"/>
                    </a:solidFill>
                  </a:tcPr>
                </a:tc>
                <a:extLst>
                  <a:ext uri="{0D108BD9-81ED-4DB2-BD59-A6C34878D82A}">
                    <a16:rowId xmlns:a16="http://schemas.microsoft.com/office/drawing/2014/main" val="10001"/>
                  </a:ext>
                </a:extLst>
              </a:tr>
              <a:tr h="563336">
                <a:tc>
                  <a:txBody>
                    <a:bodyPr/>
                    <a:lstStyle/>
                    <a:p>
                      <a:r>
                        <a:rPr sz="1875" b="0">
                          <a:solidFill>
                            <a:schemeClr val="lt1"/>
                          </a:solidFill>
                          <a:latin typeface="Arial"/>
                          <a:ea typeface="Arial"/>
                          <a:cs typeface="Arial"/>
                        </a:rPr>
                        <a:t>2 · Candidates</a:t>
                      </a:r>
                    </a:p>
                  </a:txBody>
                  <a:tcPr marL="133350" marR="133350" marT="76200" marB="57150">
                    <a:solidFill>
                      <a:schemeClr val="dk1"/>
                    </a:solidFill>
                  </a:tcPr>
                </a:tc>
                <a:tc>
                  <a:txBody>
                    <a:bodyPr/>
                    <a:lstStyle/>
                    <a:p>
                      <a:r>
                        <a:rPr sz="1875" b="0">
                          <a:solidFill>
                            <a:schemeClr val="lt1"/>
                          </a:solidFill>
                          <a:latin typeface="Arial"/>
                          <a:ea typeface="Arial"/>
                          <a:cs typeface="Arial"/>
                        </a:rPr>
                        <a:t>Up to 192 observed representatives and population weights</a:t>
                      </a:r>
                    </a:p>
                  </a:txBody>
                  <a:tcPr marL="133350" marR="133350" marT="76200" marB="57150">
                    <a:solidFill>
                      <a:schemeClr val="dk1"/>
                    </a:solidFill>
                  </a:tcPr>
                </a:tc>
                <a:extLst>
                  <a:ext uri="{0D108BD9-81ED-4DB2-BD59-A6C34878D82A}">
                    <a16:rowId xmlns:a16="http://schemas.microsoft.com/office/drawing/2014/main" val="10002"/>
                  </a:ext>
                </a:extLst>
              </a:tr>
              <a:tr h="563336">
                <a:tc>
                  <a:txBody>
                    <a:bodyPr/>
                    <a:lstStyle/>
                    <a:p>
                      <a:r>
                        <a:rPr sz="1875" b="0">
                          <a:solidFill>
                            <a:schemeClr val="lt1"/>
                          </a:solidFill>
                          <a:latin typeface="Arial"/>
                          <a:ea typeface="Arial"/>
                          <a:cs typeface="Arial"/>
                        </a:rPr>
                        <a:t>3 · Canonical 32</a:t>
                      </a:r>
                    </a:p>
                  </a:txBody>
                  <a:tcPr marL="133350" marR="133350" marT="76200" marB="57150">
                    <a:solidFill>
                      <a:schemeClr val="dk1"/>
                    </a:solidFill>
                  </a:tcPr>
                </a:tc>
                <a:tc>
                  <a:txBody>
                    <a:bodyPr/>
                    <a:lstStyle/>
                    <a:p>
                      <a:r>
                        <a:rPr sz="1875" b="0">
                          <a:solidFill>
                            <a:schemeClr val="lt1"/>
                          </a:solidFill>
                          <a:latin typeface="Arial"/>
                          <a:ea typeface="Arial"/>
                          <a:cs typeface="Arial"/>
                        </a:rPr>
                        <a:t>Stable IDs, four palette formats, selection diagnostics</a:t>
                      </a:r>
                    </a:p>
                  </a:txBody>
                  <a:tcPr marL="133350" marR="133350" marT="76200" marB="57150">
                    <a:solidFill>
                      <a:schemeClr val="dk1"/>
                    </a:solidFill>
                  </a:tcPr>
                </a:tc>
                <a:extLst>
                  <a:ext uri="{0D108BD9-81ED-4DB2-BD59-A6C34878D82A}">
                    <a16:rowId xmlns:a16="http://schemas.microsoft.com/office/drawing/2014/main" val="10003"/>
                  </a:ext>
                </a:extLst>
              </a:tr>
              <a:tr h="563336">
                <a:tc>
                  <a:txBody>
                    <a:bodyPr/>
                    <a:lstStyle/>
                    <a:p>
                      <a:r>
                        <a:rPr sz="1875" b="0">
                          <a:solidFill>
                            <a:schemeClr val="lt1"/>
                          </a:solidFill>
                          <a:latin typeface="Arial"/>
                          <a:ea typeface="Arial"/>
                          <a:cs typeface="Arial"/>
                        </a:rPr>
                        <a:t>4 · Semantic roles</a:t>
                      </a:r>
                    </a:p>
                  </a:txBody>
                  <a:tcPr marL="133350" marR="133350" marT="76200" marB="57150">
                    <a:solidFill>
                      <a:schemeClr val="dk1"/>
                    </a:solidFill>
                  </a:tcPr>
                </a:tc>
                <a:tc>
                  <a:txBody>
                    <a:bodyPr/>
                    <a:lstStyle/>
                    <a:p>
                      <a:r>
                        <a:rPr sz="1875" b="0">
                          <a:solidFill>
                            <a:schemeClr val="lt1"/>
                          </a:solidFill>
                          <a:latin typeface="Arial"/>
                          <a:ea typeface="Arial"/>
                          <a:cs typeface="Arial"/>
                        </a:rPr>
                        <a:t>Assignments, hue suitability and collision findings</a:t>
                      </a:r>
                    </a:p>
                  </a:txBody>
                  <a:tcPr marL="133350" marR="133350" marT="76200" marB="57150">
                    <a:solidFill>
                      <a:schemeClr val="dk1"/>
                    </a:solidFill>
                  </a:tcPr>
                </a:tc>
                <a:extLst>
                  <a:ext uri="{0D108BD9-81ED-4DB2-BD59-A6C34878D82A}">
                    <a16:rowId xmlns:a16="http://schemas.microsoft.com/office/drawing/2014/main" val="10004"/>
                  </a:ext>
                </a:extLst>
              </a:tr>
              <a:tr h="563336">
                <a:tc>
                  <a:txBody>
                    <a:bodyPr/>
                    <a:lstStyle/>
                    <a:p>
                      <a:r>
                        <a:rPr sz="1875" b="0">
                          <a:solidFill>
                            <a:schemeClr val="lt1"/>
                          </a:solidFill>
                          <a:latin typeface="Arial"/>
                          <a:ea typeface="Arial"/>
                          <a:cs typeface="Arial"/>
                        </a:rPr>
                        <a:t>5 · Target adaptation</a:t>
                      </a:r>
                    </a:p>
                  </a:txBody>
                  <a:tcPr marL="133350" marR="133350" marT="76200" marB="57150">
                    <a:solidFill>
                      <a:schemeClr val="dk1"/>
                    </a:solidFill>
                  </a:tcPr>
                </a:tc>
                <a:tc>
                  <a:txBody>
                    <a:bodyPr/>
                    <a:lstStyle/>
                    <a:p>
                      <a:r>
                        <a:rPr sz="1875" b="0">
                          <a:solidFill>
                            <a:schemeClr val="lt1"/>
                          </a:solidFill>
                          <a:latin typeface="Arial"/>
                          <a:ea typeface="Arial"/>
                          <a:cs typeface="Arial"/>
                        </a:rPr>
                        <a:t>Derived tokens, aliases, origins and omissions</a:t>
                      </a:r>
                    </a:p>
                  </a:txBody>
                  <a:tcPr marL="133350" marR="133350" marT="76200" marB="57150">
                    <a:solidFill>
                      <a:schemeClr val="dk1"/>
                    </a:solidFill>
                  </a:tcPr>
                </a:tc>
                <a:extLst>
                  <a:ext uri="{0D108BD9-81ED-4DB2-BD59-A6C34878D82A}">
                    <a16:rowId xmlns:a16="http://schemas.microsoft.com/office/drawing/2014/main" val="10005"/>
                  </a:ext>
                </a:extLst>
              </a:tr>
              <a:tr h="563336">
                <a:tc>
                  <a:txBody>
                    <a:bodyPr/>
                    <a:lstStyle/>
                    <a:p>
                      <a:r>
                        <a:rPr sz="1875" b="0">
                          <a:solidFill>
                            <a:schemeClr val="lt1"/>
                          </a:solidFill>
                          <a:latin typeface="Arial"/>
                          <a:ea typeface="Arial"/>
                          <a:cs typeface="Arial"/>
                        </a:rPr>
                        <a:t>6 · Themes + review</a:t>
                      </a:r>
                    </a:p>
                  </a:txBody>
                  <a:tcPr marL="133350" marR="133350" marT="76200" marB="57150">
                    <a:solidFill>
                      <a:schemeClr val="dk1"/>
                    </a:solidFill>
                  </a:tcPr>
                </a:tc>
                <a:tc>
                  <a:txBody>
                    <a:bodyPr/>
                    <a:lstStyle/>
                    <a:p>
                      <a:r>
                        <a:rPr sz="1875" b="0">
                          <a:solidFill>
                            <a:schemeClr val="lt1"/>
                          </a:solidFill>
                          <a:latin typeface="Arial"/>
                          <a:ea typeface="Arial"/>
                          <a:cs typeface="Arial"/>
                        </a:rPr>
                        <a:t>Native files, validation and self-contained HTML</a:t>
                      </a:r>
                    </a:p>
                  </a:txBody>
                  <a:tcPr marL="133350" marR="133350" marT="76200" marB="57150">
                    <a:solidFill>
                      <a:schemeClr val="dk1"/>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E54F1E27-4C25-43ED-97B1-E6BAEE5D0649}"/>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B3ECD231-6BE5-4031-82F1-689760F6F232}"/>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170465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88FAD3-4A72-4E18-A2C2-07E0727CCDB6}"/>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F8AB7FBE-9916-4AF4-9404-13913A3B42D2}"/>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06 / 24</a:t>
            </a:r>
          </a:p>
        </p:txBody>
      </p:sp>
      <p:sp>
        <p:nvSpPr>
          <p:cNvPr id="3" name="Rectangle 2">
            <a:extLst>
              <a:ext uri="{FF2B5EF4-FFF2-40B4-BE49-F238E27FC236}">
                <a16:creationId xmlns:a16="http://schemas.microsoft.com/office/drawing/2014/main" id="{35243C89-98BE-4296-860E-5542DCF8FC05}"/>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Use a specialist tool at each stage</a:t>
            </a:r>
          </a:p>
        </p:txBody>
      </p:sp>
      <p:sp>
        <p:nvSpPr>
          <p:cNvPr id="4" name="Rectangle 3">
            <a:extLst>
              <a:ext uri="{FF2B5EF4-FFF2-40B4-BE49-F238E27FC236}">
                <a16:creationId xmlns:a16="http://schemas.microsoft.com/office/drawing/2014/main" id="{F015DF5B-ADB6-441D-B829-798E8B89186F}"/>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The pipeline combines strengths instead of asking one tool to infer everything.</a:t>
            </a:r>
          </a:p>
        </p:txBody>
      </p:sp>
      <p:graphicFrame>
        <p:nvGraphicFramePr>
          <p:cNvPr id="5" name="Table 4">
            <a:extLst>
              <a:ext uri="{FF2B5EF4-FFF2-40B4-BE49-F238E27FC236}">
                <a16:creationId xmlns:a16="http://schemas.microsoft.com/office/drawing/2014/main" id="{281F6A27-F94E-4361-92B1-53C2880F339F}"/>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619125">
                <a:tc>
                  <a:txBody>
                    <a:bodyPr/>
                    <a:lstStyle/>
                    <a:p>
                      <a:r>
                        <a:rPr sz="1875" b="1">
                          <a:solidFill>
                            <a:schemeClr val="accent1"/>
                          </a:solidFill>
                          <a:latin typeface="Arial"/>
                          <a:ea typeface="Arial"/>
                          <a:cs typeface="Arial"/>
                        </a:rPr>
                        <a:t>Tool</a:t>
                      </a:r>
                    </a:p>
                  </a:txBody>
                  <a:tcPr marL="133350" marR="133350" marT="76200" marB="57150">
                    <a:solidFill>
                      <a:schemeClr val="dk2"/>
                    </a:solidFill>
                  </a:tcPr>
                </a:tc>
                <a:tc>
                  <a:txBody>
                    <a:bodyPr/>
                    <a:lstStyle/>
                    <a:p>
                      <a:r>
                        <a:rPr sz="1875" b="1">
                          <a:solidFill>
                            <a:schemeClr val="accent1"/>
                          </a:solidFill>
                          <a:latin typeface="Arial"/>
                          <a:ea typeface="Arial"/>
                          <a:cs typeface="Arial"/>
                        </a:rPr>
                        <a:t>Job</a:t>
                      </a:r>
                    </a:p>
                  </a:txBody>
                  <a:tcPr marL="133350" marR="133350" marT="76200" marB="57150">
                    <a:solidFill>
                      <a:schemeClr val="dk2"/>
                    </a:solidFill>
                  </a:tcPr>
                </a:tc>
                <a:extLst>
                  <a:ext uri="{0D108BD9-81ED-4DB2-BD59-A6C34878D82A}">
                    <a16:rowId xmlns:a16="http://schemas.microsoft.com/office/drawing/2014/main" val="10000"/>
                  </a:ext>
                </a:extLst>
              </a:tr>
              <a:tr h="619125">
                <a:tc>
                  <a:txBody>
                    <a:bodyPr/>
                    <a:lstStyle/>
                    <a:p>
                      <a:r>
                        <a:rPr sz="1875" b="0">
                          <a:solidFill>
                            <a:schemeClr val="lt1"/>
                          </a:solidFill>
                          <a:latin typeface="Arial"/>
                          <a:ea typeface="Arial"/>
                          <a:cs typeface="Arial"/>
                        </a:rPr>
                        <a:t>ImageMagick</a:t>
                      </a:r>
                    </a:p>
                  </a:txBody>
                  <a:tcPr marL="133350" marR="133350" marT="76200" marB="57150">
                    <a:solidFill>
                      <a:schemeClr val="dk1"/>
                    </a:solidFill>
                  </a:tcPr>
                </a:tc>
                <a:tc>
                  <a:txBody>
                    <a:bodyPr/>
                    <a:lstStyle/>
                    <a:p>
                      <a:r>
                        <a:rPr sz="1875" b="0">
                          <a:solidFill>
                            <a:schemeClr val="lt1"/>
                          </a:solidFill>
                          <a:latin typeface="Arial"/>
                          <a:ea typeface="Arial"/>
                          <a:cs typeface="Arial"/>
                        </a:rPr>
                        <a:t>Decoding, orientation, ICC-aware sRGB normalization</a:t>
                      </a:r>
                    </a:p>
                  </a:txBody>
                  <a:tcPr marL="133350" marR="133350" marT="76200" marB="57150">
                    <a:solidFill>
                      <a:schemeClr val="dk1"/>
                    </a:solidFill>
                  </a:tcPr>
                </a:tc>
                <a:extLst>
                  <a:ext uri="{0D108BD9-81ED-4DB2-BD59-A6C34878D82A}">
                    <a16:rowId xmlns:a16="http://schemas.microsoft.com/office/drawing/2014/main" val="10001"/>
                  </a:ext>
                </a:extLst>
              </a:tr>
              <a:tr h="619125">
                <a:tc>
                  <a:txBody>
                    <a:bodyPr/>
                    <a:lstStyle/>
                    <a:p>
                      <a:r>
                        <a:rPr sz="1875" b="0">
                          <a:solidFill>
                            <a:schemeClr val="lt1"/>
                          </a:solidFill>
                          <a:latin typeface="Arial"/>
                          <a:ea typeface="Arial"/>
                          <a:cs typeface="Arial"/>
                        </a:rPr>
                        <a:t>NumPy + scikit-learn</a:t>
                      </a:r>
                    </a:p>
                  </a:txBody>
                  <a:tcPr marL="133350" marR="133350" marT="76200" marB="57150">
                    <a:solidFill>
                      <a:schemeClr val="dk1"/>
                    </a:solidFill>
                  </a:tcPr>
                </a:tc>
                <a:tc>
                  <a:txBody>
                    <a:bodyPr/>
                    <a:lstStyle/>
                    <a:p>
                      <a:r>
                        <a:rPr sz="1875" b="0">
                          <a:solidFill>
                            <a:schemeClr val="lt1"/>
                          </a:solidFill>
                          <a:latin typeface="Arial"/>
                          <a:ea typeface="Arial"/>
                          <a:cs typeface="Arial"/>
                        </a:rPr>
                        <a:t>Sampling and population-weighted OKLab clustering</a:t>
                      </a:r>
                    </a:p>
                  </a:txBody>
                  <a:tcPr marL="133350" marR="133350" marT="76200" marB="57150">
                    <a:solidFill>
                      <a:schemeClr val="dk1"/>
                    </a:solidFill>
                  </a:tcPr>
                </a:tc>
                <a:extLst>
                  <a:ext uri="{0D108BD9-81ED-4DB2-BD59-A6C34878D82A}">
                    <a16:rowId xmlns:a16="http://schemas.microsoft.com/office/drawing/2014/main" val="10002"/>
                  </a:ext>
                </a:extLst>
              </a:tr>
              <a:tr h="619125">
                <a:tc>
                  <a:txBody>
                    <a:bodyPr/>
                    <a:lstStyle/>
                    <a:p>
                      <a:r>
                        <a:rPr sz="1875" b="0">
                          <a:solidFill>
                            <a:schemeClr val="lt1"/>
                          </a:solidFill>
                          <a:latin typeface="Arial"/>
                          <a:ea typeface="Arial"/>
                          <a:cs typeface="Arial"/>
                        </a:rPr>
                        <a:t>ColorAide</a:t>
                      </a:r>
                    </a:p>
                  </a:txBody>
                  <a:tcPr marL="133350" marR="133350" marT="76200" marB="57150">
                    <a:solidFill>
                      <a:schemeClr val="dk1"/>
                    </a:solidFill>
                  </a:tcPr>
                </a:tc>
                <a:tc>
                  <a:txBody>
                    <a:bodyPr/>
                    <a:lstStyle/>
                    <a:p>
                      <a:r>
                        <a:rPr sz="1875" b="0">
                          <a:solidFill>
                            <a:schemeClr val="lt1"/>
                          </a:solidFill>
                          <a:latin typeface="Arial"/>
                          <a:ea typeface="Arial"/>
                          <a:cs typeface="Arial"/>
                        </a:rPr>
                        <a:t>Color conversion, contrast and sRGB gamut handling</a:t>
                      </a:r>
                    </a:p>
                  </a:txBody>
                  <a:tcPr marL="133350" marR="133350" marT="76200" marB="57150">
                    <a:solidFill>
                      <a:schemeClr val="dk1"/>
                    </a:solidFill>
                  </a:tcPr>
                </a:tc>
                <a:extLst>
                  <a:ext uri="{0D108BD9-81ED-4DB2-BD59-A6C34878D82A}">
                    <a16:rowId xmlns:a16="http://schemas.microsoft.com/office/drawing/2014/main" val="10003"/>
                  </a:ext>
                </a:extLst>
              </a:tr>
              <a:tr h="619125">
                <a:tc>
                  <a:txBody>
                    <a:bodyPr/>
                    <a:lstStyle/>
                    <a:p>
                      <a:r>
                        <a:rPr sz="1875" b="0">
                          <a:solidFill>
                            <a:schemeClr val="lt1"/>
                          </a:solidFill>
                          <a:latin typeface="Arial"/>
                          <a:ea typeface="Arial"/>
                          <a:cs typeface="Arial"/>
                        </a:rPr>
                        <a:t>Python + PowerShell</a:t>
                      </a:r>
                    </a:p>
                  </a:txBody>
                  <a:tcPr marL="133350" marR="133350" marT="76200" marB="57150">
                    <a:solidFill>
                      <a:schemeClr val="dk1"/>
                    </a:solidFill>
                  </a:tcPr>
                </a:tc>
                <a:tc>
                  <a:txBody>
                    <a:bodyPr/>
                    <a:lstStyle/>
                    <a:p>
                      <a:r>
                        <a:rPr sz="1875" b="0">
                          <a:solidFill>
                            <a:schemeClr val="lt1"/>
                          </a:solidFill>
                          <a:latin typeface="Arial"/>
                          <a:ea typeface="Arial"/>
                          <a:cs typeface="Arial"/>
                        </a:rPr>
                        <a:t>Pipeline contracts, configuration and local orchestration</a:t>
                      </a:r>
                    </a:p>
                  </a:txBody>
                  <a:tcPr marL="133350" marR="133350" marT="76200" marB="57150">
                    <a:solidFill>
                      <a:schemeClr val="dk1"/>
                    </a:solidFill>
                  </a:tcPr>
                </a:tc>
                <a:extLst>
                  <a:ext uri="{0D108BD9-81ED-4DB2-BD59-A6C34878D82A}">
                    <a16:rowId xmlns:a16="http://schemas.microsoft.com/office/drawing/2014/main" val="10004"/>
                  </a:ext>
                </a:extLst>
              </a:tr>
              <a:tr h="619125">
                <a:tc>
                  <a:txBody>
                    <a:bodyPr/>
                    <a:lstStyle/>
                    <a:p>
                      <a:r>
                        <a:rPr sz="1875" b="0">
                          <a:solidFill>
                            <a:schemeClr val="lt1"/>
                          </a:solidFill>
                          <a:latin typeface="Arial"/>
                          <a:ea typeface="Arial"/>
                          <a:cs typeface="Arial"/>
                        </a:rPr>
                        <a:t>Artifact Tool / Open XML</a:t>
                      </a:r>
                    </a:p>
                  </a:txBody>
                  <a:tcPr marL="133350" marR="133350" marT="76200" marB="57150">
                    <a:solidFill>
                      <a:schemeClr val="dk1"/>
                    </a:solidFill>
                  </a:tcPr>
                </a:tc>
                <a:tc>
                  <a:txBody>
                    <a:bodyPr/>
                    <a:lstStyle/>
                    <a:p>
                      <a:r>
                        <a:rPr sz="1875" b="0">
                          <a:solidFill>
                            <a:schemeClr val="lt1"/>
                          </a:solidFill>
                          <a:latin typeface="Arial"/>
                          <a:ea typeface="Arial"/>
                          <a:cs typeface="Arial"/>
                        </a:rPr>
                        <a:t>Editable PowerPoint content and package checks</a:t>
                      </a:r>
                    </a:p>
                  </a:txBody>
                  <a:tcPr marL="133350" marR="133350" marT="76200" marB="57150">
                    <a:solidFill>
                      <a:schemeClr val="dk1"/>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CEB1AC60-D668-4412-AD5B-CB1E2C70D60E}"/>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52A867BE-DDBF-44A4-9EE8-4900CE55D9BC}"/>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57518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E37BF23-2FBC-4B32-B431-88873834AEB7}"/>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A51C63C5-D76B-48FD-A015-84519AFFB733}"/>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07 / 24</a:t>
            </a:r>
          </a:p>
        </p:txBody>
      </p:sp>
      <p:sp>
        <p:nvSpPr>
          <p:cNvPr id="3" name="Rectangle 2">
            <a:extLst>
              <a:ext uri="{FF2B5EF4-FFF2-40B4-BE49-F238E27FC236}">
                <a16:creationId xmlns:a16="http://schemas.microsoft.com/office/drawing/2014/main" id="{93AE3B68-7A23-4287-8A57-45238E3C8A21}"/>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Normalize pixels; preserve the original</a:t>
            </a:r>
          </a:p>
        </p:txBody>
      </p:sp>
      <p:sp>
        <p:nvSpPr>
          <p:cNvPr id="4" name="Rectangle 3">
            <a:extLst>
              <a:ext uri="{FF2B5EF4-FFF2-40B4-BE49-F238E27FC236}">
                <a16:creationId xmlns:a16="http://schemas.microsoft.com/office/drawing/2014/main" id="{99B58DE1-55A9-478E-B319-44359650648A}"/>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Normalization creates a working representation without replacing the source.</a:t>
            </a:r>
          </a:p>
        </p:txBody>
      </p:sp>
      <p:sp>
        <p:nvSpPr>
          <p:cNvPr id="5" name="Rectangle 4">
            <a:extLst>
              <a:ext uri="{FF2B5EF4-FFF2-40B4-BE49-F238E27FC236}">
                <a16:creationId xmlns:a16="http://schemas.microsoft.com/office/drawing/2014/main" id="{FB411082-AB04-4708-A769-374CEB7DD3C4}"/>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Interpret the image</a:t>
            </a:r>
          </a:p>
        </p:txBody>
      </p:sp>
      <p:sp>
        <p:nvSpPr>
          <p:cNvPr id="6" name="Rectangle 5">
            <a:extLst>
              <a:ext uri="{FF2B5EF4-FFF2-40B4-BE49-F238E27FC236}">
                <a16:creationId xmlns:a16="http://schemas.microsoft.com/office/drawing/2014/main" id="{F13C28AA-7B59-48A0-9DC9-A55CCC475448}"/>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Apply orientation and ICC-aware sRGB conversion through ImageMagick.</a:t>
            </a:r>
          </a:p>
        </p:txBody>
      </p:sp>
      <p:sp>
        <p:nvSpPr>
          <p:cNvPr id="7" name="Rectangle 6">
            <a:extLst>
              <a:ext uri="{FF2B5EF4-FFF2-40B4-BE49-F238E27FC236}">
                <a16:creationId xmlns:a16="http://schemas.microsoft.com/office/drawing/2014/main" id="{F0ADA245-CCD5-451F-985C-6E6CBB32161C}"/>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Respect transparency</a:t>
            </a:r>
          </a:p>
        </p:txBody>
      </p:sp>
      <p:sp>
        <p:nvSpPr>
          <p:cNvPr id="8" name="Rectangle 7">
            <a:extLst>
              <a:ext uri="{FF2B5EF4-FFF2-40B4-BE49-F238E27FC236}">
                <a16:creationId xmlns:a16="http://schemas.microsoft.com/office/drawing/2014/main" id="{A10AB55B-3BDC-43B9-B088-295F50402EF9}"/>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Exclude fully transparent pixels; weight partial opacity by alpha.</a:t>
            </a:r>
          </a:p>
        </p:txBody>
      </p:sp>
      <p:sp>
        <p:nvSpPr>
          <p:cNvPr id="9" name="Rectangle 8">
            <a:extLst>
              <a:ext uri="{FF2B5EF4-FFF2-40B4-BE49-F238E27FC236}">
                <a16:creationId xmlns:a16="http://schemas.microsoft.com/office/drawing/2014/main" id="{188B026B-5622-4841-9FB9-0D852E371AFC}"/>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Bound the computation</a:t>
            </a:r>
          </a:p>
        </p:txBody>
      </p:sp>
      <p:sp>
        <p:nvSpPr>
          <p:cNvPr id="10" name="Rectangle 9">
            <a:extLst>
              <a:ext uri="{FF2B5EF4-FFF2-40B4-BE49-F238E27FC236}">
                <a16:creationId xmlns:a16="http://schemas.microsoft.com/office/drawing/2014/main" id="{F85E42B3-D00F-4274-AFAE-765ACB5DCC30}"/>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Default sampling limit: 65,536 pixels. Fixed seed and stable ordering.</a:t>
            </a:r>
          </a:p>
        </p:txBody>
      </p:sp>
      <p:sp>
        <p:nvSpPr>
          <p:cNvPr id="11" name="Rectangle 10">
            <a:extLst>
              <a:ext uri="{FF2B5EF4-FFF2-40B4-BE49-F238E27FC236}">
                <a16:creationId xmlns:a16="http://schemas.microsoft.com/office/drawing/2014/main" id="{94061275-5B70-44DB-8F11-72513E6B9E5C}"/>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AB34CDEB-7D8B-4DB6-81CD-D0322A08165D}"/>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406586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961EF98-152C-4D55-8A11-B26A24E436BD}"/>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6DC75535-BC4C-43F7-B73F-C654B11CBA0C}"/>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08 / 24</a:t>
            </a:r>
          </a:p>
        </p:txBody>
      </p:sp>
      <p:sp>
        <p:nvSpPr>
          <p:cNvPr id="3" name="Rectangle 2">
            <a:extLst>
              <a:ext uri="{FF2B5EF4-FFF2-40B4-BE49-F238E27FC236}">
                <a16:creationId xmlns:a16="http://schemas.microsoft.com/office/drawing/2014/main" id="{2BF27AAA-4F01-4B4C-A904-C51A1AB00219}"/>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Candidates are observed colors</a:t>
            </a:r>
          </a:p>
        </p:txBody>
      </p:sp>
      <p:sp>
        <p:nvSpPr>
          <p:cNvPr id="4" name="Rectangle 3">
            <a:extLst>
              <a:ext uri="{FF2B5EF4-FFF2-40B4-BE49-F238E27FC236}">
                <a16:creationId xmlns:a16="http://schemas.microsoft.com/office/drawing/2014/main" id="{CCFCF6AB-2D48-432B-8569-0844FEFF534C}"/>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 cluster center guides selection; it does not become an invented export color.</a:t>
            </a:r>
          </a:p>
        </p:txBody>
      </p:sp>
      <p:sp>
        <p:nvSpPr>
          <p:cNvPr id="5" name="Rectangle 4">
            <a:extLst>
              <a:ext uri="{FF2B5EF4-FFF2-40B4-BE49-F238E27FC236}">
                <a16:creationId xmlns:a16="http://schemas.microsoft.com/office/drawing/2014/main" id="{A7EBCFC1-21E5-4BE3-9816-6E942D5FDA11}"/>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Perceptual coordinates</a:t>
            </a:r>
          </a:p>
        </p:txBody>
      </p:sp>
      <p:sp>
        <p:nvSpPr>
          <p:cNvPr id="6" name="Rectangle 5">
            <a:extLst>
              <a:ext uri="{FF2B5EF4-FFF2-40B4-BE49-F238E27FC236}">
                <a16:creationId xmlns:a16="http://schemas.microsoft.com/office/drawing/2014/main" id="{6AAFA2D8-5D72-483A-8ACD-338845FE4439}"/>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Convert sampled sRGB colors to OKLab for clustering.</a:t>
            </a:r>
          </a:p>
        </p:txBody>
      </p:sp>
      <p:sp>
        <p:nvSpPr>
          <p:cNvPr id="7" name="Rectangle 6">
            <a:extLst>
              <a:ext uri="{FF2B5EF4-FFF2-40B4-BE49-F238E27FC236}">
                <a16:creationId xmlns:a16="http://schemas.microsoft.com/office/drawing/2014/main" id="{1A684764-DF3A-4675-826A-CE949B6914D9}"/>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Population matters</a:t>
            </a:r>
          </a:p>
        </p:txBody>
      </p:sp>
      <p:sp>
        <p:nvSpPr>
          <p:cNvPr id="8" name="Rectangle 7">
            <a:extLst>
              <a:ext uri="{FF2B5EF4-FFF2-40B4-BE49-F238E27FC236}">
                <a16:creationId xmlns:a16="http://schemas.microsoft.com/office/drawing/2014/main" id="{C4A80FBC-20DD-4897-90E3-3A7DD8DEB339}"/>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Weight clusters by image population and partial opacity.</a:t>
            </a:r>
          </a:p>
        </p:txBody>
      </p:sp>
      <p:sp>
        <p:nvSpPr>
          <p:cNvPr id="9" name="Rectangle 8">
            <a:extLst>
              <a:ext uri="{FF2B5EF4-FFF2-40B4-BE49-F238E27FC236}">
                <a16:creationId xmlns:a16="http://schemas.microsoft.com/office/drawing/2014/main" id="{36B402B6-8658-4C60-97C0-26A82E9217DC}"/>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Representative selection</a:t>
            </a:r>
          </a:p>
        </p:txBody>
      </p:sp>
      <p:sp>
        <p:nvSpPr>
          <p:cNvPr id="10" name="Rectangle 9">
            <a:extLst>
              <a:ext uri="{FF2B5EF4-FFF2-40B4-BE49-F238E27FC236}">
                <a16:creationId xmlns:a16="http://schemas.microsoft.com/office/drawing/2014/main" id="{1E5502BB-6482-4087-BBBA-1760477C1BD1}"/>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Choose an observed color nearest each cluster center, then order stably.</a:t>
            </a:r>
          </a:p>
        </p:txBody>
      </p:sp>
      <p:sp>
        <p:nvSpPr>
          <p:cNvPr id="11" name="Rectangle 10">
            <a:extLst>
              <a:ext uri="{FF2B5EF4-FFF2-40B4-BE49-F238E27FC236}">
                <a16:creationId xmlns:a16="http://schemas.microsoft.com/office/drawing/2014/main" id="{DC4337F0-15F0-4F82-BBAC-F0CD817E2C16}"/>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5DA2D008-70A6-4C1D-813C-0D5AC818DC81}"/>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41077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E404A2-D29F-4F7F-95B7-92F235DD7E1E}"/>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15AE8BAE-5BB9-46DF-A24C-517EB4BD9334}"/>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09 / 24</a:t>
            </a:r>
          </a:p>
        </p:txBody>
      </p:sp>
      <p:sp>
        <p:nvSpPr>
          <p:cNvPr id="3" name="Rectangle 2">
            <a:extLst>
              <a:ext uri="{FF2B5EF4-FFF2-40B4-BE49-F238E27FC236}">
                <a16:creationId xmlns:a16="http://schemas.microsoft.com/office/drawing/2014/main" id="{61730C58-04F6-4D0E-8652-BEF18710BA6E}"/>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The Black-Gold canonical 32</a:t>
            </a:r>
          </a:p>
        </p:txBody>
      </p:sp>
      <p:sp>
        <p:nvSpPr>
          <p:cNvPr id="4" name="Rectangle 3">
            <a:extLst>
              <a:ext uri="{FF2B5EF4-FFF2-40B4-BE49-F238E27FC236}">
                <a16:creationId xmlns:a16="http://schemas.microsoft.com/office/drawing/2014/main" id="{4762C192-81ED-46DD-ADF7-81B20F317682}"/>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Perceptual clustering, light/dark anchors and diversity; IDs carry no meanings.</a:t>
            </a:r>
          </a:p>
        </p:txBody>
      </p:sp>
      <p:graphicFrame>
        <p:nvGraphicFramePr>
          <p:cNvPr id="5" name="Table 4">
            <a:extLst>
              <a:ext uri="{FF2B5EF4-FFF2-40B4-BE49-F238E27FC236}">
                <a16:creationId xmlns:a16="http://schemas.microsoft.com/office/drawing/2014/main" id="{27878DBE-51FF-4D7A-A05B-2CCDF9D3108E}"/>
              </a:ext>
            </a:extLst>
          </p:cNvPr>
          <p:cNvGraphicFramePr/>
          <p:nvPr/>
        </p:nvGraphicFramePr>
        <p:xfrm>
          <a:off x="609600" y="2095500"/>
          <a:ext cx="10972800" cy="390525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88156">
                <a:tc>
                  <a:txBody>
                    <a:bodyPr/>
                    <a:lstStyle/>
                    <a:p>
                      <a:r>
                        <a:rPr sz="1725" b="1">
                          <a:solidFill>
                            <a:schemeClr val="lt1"/>
                          </a:solidFill>
                          <a:latin typeface="Arial"/>
                          <a:ea typeface="Arial"/>
                          <a:cs typeface="Arial"/>
                        </a:rPr>
                        <a:t>color_01   #000000</a:t>
                      </a:r>
                    </a:p>
                  </a:txBody>
                  <a:tcPr marL="133350" marR="133350" marT="76200" marB="57150">
                    <a:solidFill>
                      <a:srgbClr val="000000"/>
                    </a:solidFill>
                  </a:tcPr>
                </a:tc>
                <a:tc>
                  <a:txBody>
                    <a:bodyPr/>
                    <a:lstStyle/>
                    <a:p>
                      <a:r>
                        <a:rPr sz="1725" b="1">
                          <a:solidFill>
                            <a:schemeClr val="lt1"/>
                          </a:solidFill>
                          <a:latin typeface="Arial"/>
                          <a:ea typeface="Arial"/>
                          <a:cs typeface="Arial"/>
                        </a:rPr>
                        <a:t>color_02   #01060E</a:t>
                      </a:r>
                    </a:p>
                  </a:txBody>
                  <a:tcPr marL="133350" marR="133350" marT="76200" marB="57150">
                    <a:solidFill>
                      <a:srgbClr val="01060E"/>
                    </a:solidFill>
                  </a:tcPr>
                </a:tc>
                <a:tc>
                  <a:txBody>
                    <a:bodyPr/>
                    <a:lstStyle/>
                    <a:p>
                      <a:r>
                        <a:rPr sz="1725" b="1">
                          <a:solidFill>
                            <a:schemeClr val="lt1"/>
                          </a:solidFill>
                          <a:latin typeface="Arial"/>
                          <a:ea typeface="Arial"/>
                          <a:cs typeface="Arial"/>
                        </a:rPr>
                        <a:t>color_03   #051019</a:t>
                      </a:r>
                    </a:p>
                  </a:txBody>
                  <a:tcPr marL="133350" marR="133350" marT="76200" marB="57150">
                    <a:solidFill>
                      <a:srgbClr val="051019"/>
                    </a:solidFill>
                  </a:tcPr>
                </a:tc>
                <a:tc>
                  <a:txBody>
                    <a:bodyPr/>
                    <a:lstStyle/>
                    <a:p>
                      <a:r>
                        <a:rPr sz="1725" b="1">
                          <a:solidFill>
                            <a:schemeClr val="lt1"/>
                          </a:solidFill>
                          <a:latin typeface="Arial"/>
                          <a:ea typeface="Arial"/>
                          <a:cs typeface="Arial"/>
                        </a:rPr>
                        <a:t>color_04   #0A1924</a:t>
                      </a:r>
                    </a:p>
                  </a:txBody>
                  <a:tcPr marL="133350" marR="133350" marT="76200" marB="57150">
                    <a:solidFill>
                      <a:srgbClr val="0A1924"/>
                    </a:solidFill>
                  </a:tcPr>
                </a:tc>
                <a:extLst>
                  <a:ext uri="{0D108BD9-81ED-4DB2-BD59-A6C34878D82A}">
                    <a16:rowId xmlns:a16="http://schemas.microsoft.com/office/drawing/2014/main" val="10000"/>
                  </a:ext>
                </a:extLst>
              </a:tr>
              <a:tr h="488156">
                <a:tc>
                  <a:txBody>
                    <a:bodyPr/>
                    <a:lstStyle/>
                    <a:p>
                      <a:r>
                        <a:rPr sz="1725" b="1">
                          <a:solidFill>
                            <a:schemeClr val="lt1"/>
                          </a:solidFill>
                          <a:latin typeface="Arial"/>
                          <a:ea typeface="Arial"/>
                          <a:cs typeface="Arial"/>
                        </a:rPr>
                        <a:t>color_05   #21211C</a:t>
                      </a:r>
                    </a:p>
                  </a:txBody>
                  <a:tcPr marL="133350" marR="133350" marT="76200" marB="57150">
                    <a:solidFill>
                      <a:srgbClr val="21211C"/>
                    </a:solidFill>
                  </a:tcPr>
                </a:tc>
                <a:tc>
                  <a:txBody>
                    <a:bodyPr/>
                    <a:lstStyle/>
                    <a:p>
                      <a:r>
                        <a:rPr sz="1725" b="1">
                          <a:solidFill>
                            <a:schemeClr val="lt1"/>
                          </a:solidFill>
                          <a:latin typeface="Arial"/>
                          <a:ea typeface="Arial"/>
                          <a:cs typeface="Arial"/>
                        </a:rPr>
                        <a:t>color_06   #022742</a:t>
                      </a:r>
                    </a:p>
                  </a:txBody>
                  <a:tcPr marL="133350" marR="133350" marT="76200" marB="57150">
                    <a:solidFill>
                      <a:srgbClr val="022742"/>
                    </a:solidFill>
                  </a:tcPr>
                </a:tc>
                <a:tc>
                  <a:txBody>
                    <a:bodyPr/>
                    <a:lstStyle/>
                    <a:p>
                      <a:r>
                        <a:rPr sz="1725" b="1">
                          <a:solidFill>
                            <a:schemeClr val="lt1"/>
                          </a:solidFill>
                          <a:latin typeface="Arial"/>
                          <a:ea typeface="Arial"/>
                          <a:cs typeface="Arial"/>
                        </a:rPr>
                        <a:t>color_07   #2F2921</a:t>
                      </a:r>
                    </a:p>
                  </a:txBody>
                  <a:tcPr marL="133350" marR="133350" marT="76200" marB="57150">
                    <a:solidFill>
                      <a:srgbClr val="2F2921"/>
                    </a:solidFill>
                  </a:tcPr>
                </a:tc>
                <a:tc>
                  <a:txBody>
                    <a:bodyPr/>
                    <a:lstStyle/>
                    <a:p>
                      <a:r>
                        <a:rPr sz="1725" b="1">
                          <a:solidFill>
                            <a:schemeClr val="lt1"/>
                          </a:solidFill>
                          <a:latin typeface="Arial"/>
                          <a:ea typeface="Arial"/>
                          <a:cs typeface="Arial"/>
                        </a:rPr>
                        <a:t>color_08   #413422</a:t>
                      </a:r>
                    </a:p>
                  </a:txBody>
                  <a:tcPr marL="133350" marR="133350" marT="76200" marB="57150">
                    <a:solidFill>
                      <a:srgbClr val="413422"/>
                    </a:solidFill>
                  </a:tcPr>
                </a:tc>
                <a:extLst>
                  <a:ext uri="{0D108BD9-81ED-4DB2-BD59-A6C34878D82A}">
                    <a16:rowId xmlns:a16="http://schemas.microsoft.com/office/drawing/2014/main" val="10001"/>
                  </a:ext>
                </a:extLst>
              </a:tr>
              <a:tr h="488156">
                <a:tc>
                  <a:txBody>
                    <a:bodyPr/>
                    <a:lstStyle/>
                    <a:p>
                      <a:r>
                        <a:rPr sz="1725" b="1">
                          <a:solidFill>
                            <a:schemeClr val="lt1"/>
                          </a:solidFill>
                          <a:latin typeface="Arial"/>
                          <a:ea typeface="Arial"/>
                          <a:cs typeface="Arial"/>
                        </a:rPr>
                        <a:t>color_09   #0B3F57</a:t>
                      </a:r>
                    </a:p>
                  </a:txBody>
                  <a:tcPr marL="133350" marR="133350" marT="76200" marB="57150">
                    <a:solidFill>
                      <a:srgbClr val="0B3F57"/>
                    </a:solidFill>
                  </a:tcPr>
                </a:tc>
                <a:tc>
                  <a:txBody>
                    <a:bodyPr/>
                    <a:lstStyle/>
                    <a:p>
                      <a:r>
                        <a:rPr sz="1725" b="1">
                          <a:solidFill>
                            <a:schemeClr val="lt1"/>
                          </a:solidFill>
                          <a:latin typeface="Arial"/>
                          <a:ea typeface="Arial"/>
                          <a:cs typeface="Arial"/>
                        </a:rPr>
                        <a:t>color_10   #664024</a:t>
                      </a:r>
                    </a:p>
                  </a:txBody>
                  <a:tcPr marL="133350" marR="133350" marT="76200" marB="57150">
                    <a:solidFill>
                      <a:srgbClr val="664024"/>
                    </a:solidFill>
                  </a:tcPr>
                </a:tc>
                <a:tc>
                  <a:txBody>
                    <a:bodyPr/>
                    <a:lstStyle/>
                    <a:p>
                      <a:r>
                        <a:rPr sz="1725" b="1">
                          <a:solidFill>
                            <a:schemeClr val="lt1"/>
                          </a:solidFill>
                          <a:latin typeface="Arial"/>
                          <a:ea typeface="Arial"/>
                          <a:cs typeface="Arial"/>
                        </a:rPr>
                        <a:t>color_11   #18556A</a:t>
                      </a:r>
                    </a:p>
                  </a:txBody>
                  <a:tcPr marL="133350" marR="133350" marT="76200" marB="57150">
                    <a:solidFill>
                      <a:srgbClr val="18556A"/>
                    </a:solidFill>
                  </a:tcPr>
                </a:tc>
                <a:tc>
                  <a:txBody>
                    <a:bodyPr/>
                    <a:lstStyle/>
                    <a:p>
                      <a:r>
                        <a:rPr sz="1725" b="1">
                          <a:solidFill>
                            <a:schemeClr val="lt1"/>
                          </a:solidFill>
                          <a:latin typeface="Arial"/>
                          <a:ea typeface="Arial"/>
                          <a:cs typeface="Arial"/>
                        </a:rPr>
                        <a:t>color_12   #5B5752</a:t>
                      </a:r>
                    </a:p>
                  </a:txBody>
                  <a:tcPr marL="133350" marR="133350" marT="76200" marB="57150">
                    <a:solidFill>
                      <a:srgbClr val="5B5752"/>
                    </a:solidFill>
                  </a:tcPr>
                </a:tc>
                <a:extLst>
                  <a:ext uri="{0D108BD9-81ED-4DB2-BD59-A6C34878D82A}">
                    <a16:rowId xmlns:a16="http://schemas.microsoft.com/office/drawing/2014/main" val="10002"/>
                  </a:ext>
                </a:extLst>
              </a:tr>
              <a:tr h="488156">
                <a:tc>
                  <a:txBody>
                    <a:bodyPr/>
                    <a:lstStyle/>
                    <a:p>
                      <a:r>
                        <a:rPr sz="1725" b="1">
                          <a:solidFill>
                            <a:schemeClr val="lt1"/>
                          </a:solidFill>
                          <a:latin typeface="Arial"/>
                          <a:ea typeface="Arial"/>
                          <a:cs typeface="Arial"/>
                        </a:rPr>
                        <a:t>color_13   #845328</a:t>
                      </a:r>
                    </a:p>
                  </a:txBody>
                  <a:tcPr marL="133350" marR="133350" marT="76200" marB="57150">
                    <a:solidFill>
                      <a:srgbClr val="845328"/>
                    </a:solidFill>
                  </a:tcPr>
                </a:tc>
                <a:tc>
                  <a:txBody>
                    <a:bodyPr/>
                    <a:lstStyle/>
                    <a:p>
                      <a:r>
                        <a:rPr sz="1725" b="1">
                          <a:solidFill>
                            <a:schemeClr val="lt1"/>
                          </a:solidFill>
                          <a:latin typeface="Arial"/>
                          <a:ea typeface="Arial"/>
                          <a:cs typeface="Arial"/>
                        </a:rPr>
                        <a:t>color_14   #35737D</a:t>
                      </a:r>
                    </a:p>
                  </a:txBody>
                  <a:tcPr marL="133350" marR="133350" marT="76200" marB="57150">
                    <a:solidFill>
                      <a:srgbClr val="35737D"/>
                    </a:solidFill>
                  </a:tcPr>
                </a:tc>
                <a:tc>
                  <a:txBody>
                    <a:bodyPr/>
                    <a:lstStyle/>
                    <a:p>
                      <a:r>
                        <a:rPr sz="1725" b="1">
                          <a:solidFill>
                            <a:schemeClr val="lt1"/>
                          </a:solidFill>
                          <a:latin typeface="Arial"/>
                          <a:ea typeface="Arial"/>
                          <a:cs typeface="Arial"/>
                        </a:rPr>
                        <a:t>color_15   #0279A3</a:t>
                      </a:r>
                    </a:p>
                  </a:txBody>
                  <a:tcPr marL="133350" marR="133350" marT="76200" marB="57150">
                    <a:solidFill>
                      <a:srgbClr val="0279A3"/>
                    </a:solidFill>
                  </a:tcPr>
                </a:tc>
                <a:tc>
                  <a:txBody>
                    <a:bodyPr/>
                    <a:lstStyle/>
                    <a:p>
                      <a:r>
                        <a:rPr sz="1725" b="1">
                          <a:solidFill>
                            <a:schemeClr val="lt1"/>
                          </a:solidFill>
                          <a:latin typeface="Arial"/>
                          <a:ea typeface="Arial"/>
                          <a:cs typeface="Arial"/>
                        </a:rPr>
                        <a:t>color_16   #817763</a:t>
                      </a:r>
                    </a:p>
                  </a:txBody>
                  <a:tcPr marL="133350" marR="133350" marT="76200" marB="57150">
                    <a:solidFill>
                      <a:srgbClr val="817763"/>
                    </a:solidFill>
                  </a:tcPr>
                </a:tc>
                <a:extLst>
                  <a:ext uri="{0D108BD9-81ED-4DB2-BD59-A6C34878D82A}">
                    <a16:rowId xmlns:a16="http://schemas.microsoft.com/office/drawing/2014/main" val="10003"/>
                  </a:ext>
                </a:extLst>
              </a:tr>
              <a:tr h="488156">
                <a:tc>
                  <a:txBody>
                    <a:bodyPr/>
                    <a:lstStyle/>
                    <a:p>
                      <a:r>
                        <a:rPr sz="1725" b="1">
                          <a:solidFill>
                            <a:schemeClr val="lt1"/>
                          </a:solidFill>
                          <a:latin typeface="Arial"/>
                          <a:ea typeface="Arial"/>
                          <a:cs typeface="Arial"/>
                        </a:rPr>
                        <a:t>color_17   #A66B35</a:t>
                      </a:r>
                    </a:p>
                  </a:txBody>
                  <a:tcPr marL="133350" marR="133350" marT="76200" marB="57150">
                    <a:solidFill>
                      <a:srgbClr val="A66B35"/>
                    </a:solidFill>
                  </a:tcPr>
                </a:tc>
                <a:tc>
                  <a:txBody>
                    <a:bodyPr/>
                    <a:lstStyle/>
                    <a:p>
                      <a:r>
                        <a:rPr sz="1725" b="1">
                          <a:solidFill>
                            <a:schemeClr val="dk1"/>
                          </a:solidFill>
                          <a:latin typeface="Arial"/>
                          <a:ea typeface="Arial"/>
                          <a:cs typeface="Arial"/>
                        </a:rPr>
                        <a:t>color_18   #4A9FAE</a:t>
                      </a:r>
                    </a:p>
                  </a:txBody>
                  <a:tcPr marL="133350" marR="133350" marT="76200" marB="57150">
                    <a:solidFill>
                      <a:srgbClr val="4A9FAE"/>
                    </a:solidFill>
                  </a:tcPr>
                </a:tc>
                <a:tc>
                  <a:txBody>
                    <a:bodyPr/>
                    <a:lstStyle/>
                    <a:p>
                      <a:r>
                        <a:rPr sz="1725" b="1">
                          <a:solidFill>
                            <a:schemeClr val="dk1"/>
                          </a:solidFill>
                          <a:latin typeface="Arial"/>
                          <a:ea typeface="Arial"/>
                          <a:cs typeface="Arial"/>
                        </a:rPr>
                        <a:t>color_19   #A98C76</a:t>
                      </a:r>
                    </a:p>
                  </a:txBody>
                  <a:tcPr marL="133350" marR="133350" marT="76200" marB="57150">
                    <a:solidFill>
                      <a:srgbClr val="A98C76"/>
                    </a:solidFill>
                  </a:tcPr>
                </a:tc>
                <a:tc>
                  <a:txBody>
                    <a:bodyPr/>
                    <a:lstStyle/>
                    <a:p>
                      <a:r>
                        <a:rPr sz="1725" b="1">
                          <a:solidFill>
                            <a:schemeClr val="dk1"/>
                          </a:solidFill>
                          <a:latin typeface="Arial"/>
                          <a:ea typeface="Arial"/>
                          <a:cs typeface="Arial"/>
                        </a:rPr>
                        <a:t>color_20   #C7833D</a:t>
                      </a:r>
                    </a:p>
                  </a:txBody>
                  <a:tcPr marL="133350" marR="133350" marT="76200" marB="57150">
                    <a:solidFill>
                      <a:srgbClr val="C7833D"/>
                    </a:solidFill>
                  </a:tcPr>
                </a:tc>
                <a:extLst>
                  <a:ext uri="{0D108BD9-81ED-4DB2-BD59-A6C34878D82A}">
                    <a16:rowId xmlns:a16="http://schemas.microsoft.com/office/drawing/2014/main" val="10004"/>
                  </a:ext>
                </a:extLst>
              </a:tr>
              <a:tr h="488156">
                <a:tc>
                  <a:txBody>
                    <a:bodyPr/>
                    <a:lstStyle/>
                    <a:p>
                      <a:r>
                        <a:rPr sz="1725" b="1">
                          <a:solidFill>
                            <a:schemeClr val="dk1"/>
                          </a:solidFill>
                          <a:latin typeface="Arial"/>
                          <a:ea typeface="Arial"/>
                          <a:cs typeface="Arial"/>
                        </a:rPr>
                        <a:t>color_21   #89B2A7</a:t>
                      </a:r>
                    </a:p>
                  </a:txBody>
                  <a:tcPr marL="133350" marR="133350" marT="76200" marB="57150">
                    <a:solidFill>
                      <a:srgbClr val="89B2A7"/>
                    </a:solidFill>
                  </a:tcPr>
                </a:tc>
                <a:tc>
                  <a:txBody>
                    <a:bodyPr/>
                    <a:lstStyle/>
                    <a:p>
                      <a:r>
                        <a:rPr sz="1725" b="1">
                          <a:solidFill>
                            <a:schemeClr val="dk1"/>
                          </a:solidFill>
                          <a:latin typeface="Arial"/>
                          <a:ea typeface="Arial"/>
                          <a:cs typeface="Arial"/>
                        </a:rPr>
                        <a:t>color_22   #DC9848</a:t>
                      </a:r>
                    </a:p>
                  </a:txBody>
                  <a:tcPr marL="133350" marR="133350" marT="76200" marB="57150">
                    <a:solidFill>
                      <a:srgbClr val="DC9848"/>
                    </a:solidFill>
                  </a:tcPr>
                </a:tc>
                <a:tc>
                  <a:txBody>
                    <a:bodyPr/>
                    <a:lstStyle/>
                    <a:p>
                      <a:r>
                        <a:rPr sz="1725" b="1">
                          <a:solidFill>
                            <a:schemeClr val="dk1"/>
                          </a:solidFill>
                          <a:latin typeface="Arial"/>
                          <a:ea typeface="Arial"/>
                          <a:cs typeface="Arial"/>
                        </a:rPr>
                        <a:t>color_23   #24BDD8</a:t>
                      </a:r>
                    </a:p>
                  </a:txBody>
                  <a:tcPr marL="133350" marR="133350" marT="76200" marB="57150">
                    <a:solidFill>
                      <a:srgbClr val="24BDD8"/>
                    </a:solidFill>
                  </a:tcPr>
                </a:tc>
                <a:tc>
                  <a:txBody>
                    <a:bodyPr/>
                    <a:lstStyle/>
                    <a:p>
                      <a:r>
                        <a:rPr sz="1725" b="1">
                          <a:solidFill>
                            <a:schemeClr val="dk1"/>
                          </a:solidFill>
                          <a:latin typeface="Arial"/>
                          <a:ea typeface="Arial"/>
                          <a:cs typeface="Arial"/>
                        </a:rPr>
                        <a:t>color_24   #D6AE7E</a:t>
                      </a:r>
                    </a:p>
                  </a:txBody>
                  <a:tcPr marL="133350" marR="133350" marT="76200" marB="57150">
                    <a:solidFill>
                      <a:srgbClr val="D6AE7E"/>
                    </a:solidFill>
                  </a:tcPr>
                </a:tc>
                <a:extLst>
                  <a:ext uri="{0D108BD9-81ED-4DB2-BD59-A6C34878D82A}">
                    <a16:rowId xmlns:a16="http://schemas.microsoft.com/office/drawing/2014/main" val="10005"/>
                  </a:ext>
                </a:extLst>
              </a:tr>
              <a:tr h="488156">
                <a:tc>
                  <a:txBody>
                    <a:bodyPr/>
                    <a:lstStyle/>
                    <a:p>
                      <a:r>
                        <a:rPr sz="1725" b="1">
                          <a:solidFill>
                            <a:schemeClr val="dk1"/>
                          </a:solidFill>
                          <a:latin typeface="Arial"/>
                          <a:ea typeface="Arial"/>
                          <a:cs typeface="Arial"/>
                        </a:rPr>
                        <a:t>color_25   #EDAF57</a:t>
                      </a:r>
                    </a:p>
                  </a:txBody>
                  <a:tcPr marL="133350" marR="133350" marT="76200" marB="57150">
                    <a:solidFill>
                      <a:srgbClr val="EDAF57"/>
                    </a:solidFill>
                  </a:tcPr>
                </a:tc>
                <a:tc>
                  <a:txBody>
                    <a:bodyPr/>
                    <a:lstStyle/>
                    <a:p>
                      <a:r>
                        <a:rPr sz="1725" b="1">
                          <a:solidFill>
                            <a:schemeClr val="dk1"/>
                          </a:solidFill>
                          <a:latin typeface="Arial"/>
                          <a:ea typeface="Arial"/>
                          <a:cs typeface="Arial"/>
                        </a:rPr>
                        <a:t>color_26   #C0C8A9</a:t>
                      </a:r>
                    </a:p>
                  </a:txBody>
                  <a:tcPr marL="133350" marR="133350" marT="76200" marB="57150">
                    <a:solidFill>
                      <a:srgbClr val="C0C8A9"/>
                    </a:solidFill>
                  </a:tcPr>
                </a:tc>
                <a:tc>
                  <a:txBody>
                    <a:bodyPr/>
                    <a:lstStyle/>
                    <a:p>
                      <a:r>
                        <a:rPr sz="1725" b="1">
                          <a:solidFill>
                            <a:schemeClr val="dk1"/>
                          </a:solidFill>
                          <a:latin typeface="Arial"/>
                          <a:ea typeface="Arial"/>
                          <a:cs typeface="Arial"/>
                        </a:rPr>
                        <a:t>color_27   #73DDEA</a:t>
                      </a:r>
                    </a:p>
                  </a:txBody>
                  <a:tcPr marL="133350" marR="133350" marT="76200" marB="57150">
                    <a:solidFill>
                      <a:srgbClr val="73DDEA"/>
                    </a:solidFill>
                  </a:tcPr>
                </a:tc>
                <a:tc>
                  <a:txBody>
                    <a:bodyPr/>
                    <a:lstStyle/>
                    <a:p>
                      <a:r>
                        <a:rPr sz="1725" b="1">
                          <a:solidFill>
                            <a:schemeClr val="dk1"/>
                          </a:solidFill>
                          <a:latin typeface="Arial"/>
                          <a:ea typeface="Arial"/>
                          <a:cs typeface="Arial"/>
                        </a:rPr>
                        <a:t>color_28   #F8C265</a:t>
                      </a:r>
                    </a:p>
                  </a:txBody>
                  <a:tcPr marL="133350" marR="133350" marT="76200" marB="57150">
                    <a:solidFill>
                      <a:srgbClr val="F8C265"/>
                    </a:solidFill>
                  </a:tcPr>
                </a:tc>
                <a:extLst>
                  <a:ext uri="{0D108BD9-81ED-4DB2-BD59-A6C34878D82A}">
                    <a16:rowId xmlns:a16="http://schemas.microsoft.com/office/drawing/2014/main" val="10006"/>
                  </a:ext>
                </a:extLst>
              </a:tr>
              <a:tr h="488156">
                <a:tc>
                  <a:txBody>
                    <a:bodyPr/>
                    <a:lstStyle/>
                    <a:p>
                      <a:r>
                        <a:rPr sz="1725" b="1">
                          <a:solidFill>
                            <a:schemeClr val="dk1"/>
                          </a:solidFill>
                          <a:latin typeface="Arial"/>
                          <a:ea typeface="Arial"/>
                          <a:cs typeface="Arial"/>
                        </a:rPr>
                        <a:t>color_29   #FBD484</a:t>
                      </a:r>
                    </a:p>
                  </a:txBody>
                  <a:tcPr marL="133350" marR="133350" marT="76200" marB="57150">
                    <a:solidFill>
                      <a:srgbClr val="FBD484"/>
                    </a:solidFill>
                  </a:tcPr>
                </a:tc>
                <a:tc>
                  <a:txBody>
                    <a:bodyPr/>
                    <a:lstStyle/>
                    <a:p>
                      <a:r>
                        <a:rPr sz="1725" b="1">
                          <a:solidFill>
                            <a:schemeClr val="dk1"/>
                          </a:solidFill>
                          <a:latin typeface="Arial"/>
                          <a:ea typeface="Arial"/>
                          <a:cs typeface="Arial"/>
                        </a:rPr>
                        <a:t>color_30   #AAF1F3</a:t>
                      </a:r>
                    </a:p>
                  </a:txBody>
                  <a:tcPr marL="133350" marR="133350" marT="76200" marB="57150">
                    <a:solidFill>
                      <a:srgbClr val="AAF1F3"/>
                    </a:solidFill>
                  </a:tcPr>
                </a:tc>
                <a:tc>
                  <a:txBody>
                    <a:bodyPr/>
                    <a:lstStyle/>
                    <a:p>
                      <a:r>
                        <a:rPr sz="1725" b="1">
                          <a:solidFill>
                            <a:schemeClr val="dk1"/>
                          </a:solidFill>
                          <a:latin typeface="Arial"/>
                          <a:ea typeface="Arial"/>
                          <a:cs typeface="Arial"/>
                        </a:rPr>
                        <a:t>color_31   #FDEFB4</a:t>
                      </a:r>
                    </a:p>
                  </a:txBody>
                  <a:tcPr marL="133350" marR="133350" marT="76200" marB="57150">
                    <a:solidFill>
                      <a:srgbClr val="FDEFB4"/>
                    </a:solidFill>
                  </a:tcPr>
                </a:tc>
                <a:tc>
                  <a:txBody>
                    <a:bodyPr/>
                    <a:lstStyle/>
                    <a:p>
                      <a:r>
                        <a:rPr sz="1725" b="1">
                          <a:solidFill>
                            <a:schemeClr val="dk1"/>
                          </a:solidFill>
                          <a:latin typeface="Arial"/>
                          <a:ea typeface="Arial"/>
                          <a:cs typeface="Arial"/>
                        </a:rPr>
                        <a:t>color_32   #FCFDF7</a:t>
                      </a:r>
                    </a:p>
                  </a:txBody>
                  <a:tcPr marL="133350" marR="133350" marT="76200" marB="57150">
                    <a:solidFill>
                      <a:srgbClr val="FCFDF7"/>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AEEDC597-DA88-4D1F-9BB3-B4E8EE44B6BB}"/>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16F367F3-250C-40DF-8832-00B75A13CDDA}"/>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687596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D91BEB-9D9E-4FEC-9B10-CBB2C7A23AD9}"/>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878A0D89-1146-463F-B6D7-96EF69F00848}"/>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10 / 24</a:t>
            </a:r>
          </a:p>
        </p:txBody>
      </p:sp>
      <p:sp>
        <p:nvSpPr>
          <p:cNvPr id="3" name="Rectangle 2">
            <a:extLst>
              <a:ext uri="{FF2B5EF4-FFF2-40B4-BE49-F238E27FC236}">
                <a16:creationId xmlns:a16="http://schemas.microsoft.com/office/drawing/2014/main" id="{00EEAE4A-0B9A-40EB-865F-22DDD1DC03DE}"/>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Semantic mapping makes intent explicit</a:t>
            </a:r>
          </a:p>
        </p:txBody>
      </p:sp>
      <p:sp>
        <p:nvSpPr>
          <p:cNvPr id="4" name="Rectangle 3">
            <a:extLst>
              <a:ext uri="{FF2B5EF4-FFF2-40B4-BE49-F238E27FC236}">
                <a16:creationId xmlns:a16="http://schemas.microsoft.com/office/drawing/2014/main" id="{E0C0AEBC-D57C-48A2-87DB-E11B7A2C632B}"/>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Assignments can be reviewed and overridden independently of extraction.</a:t>
            </a:r>
          </a:p>
        </p:txBody>
      </p:sp>
      <p:graphicFrame>
        <p:nvGraphicFramePr>
          <p:cNvPr id="5" name="Table 4">
            <a:extLst>
              <a:ext uri="{FF2B5EF4-FFF2-40B4-BE49-F238E27FC236}">
                <a16:creationId xmlns:a16="http://schemas.microsoft.com/office/drawing/2014/main" id="{344FA052-EB88-4632-A88B-1F183DB47292}"/>
              </a:ext>
            </a:extLst>
          </p:cNvPr>
          <p:cNvGraphicFramePr/>
          <p:nvPr/>
        </p:nvGraphicFramePr>
        <p:xfrm>
          <a:off x="609600" y="2114550"/>
          <a:ext cx="10972800" cy="3943350"/>
        </p:xfrm>
        <a:graphic>
          <a:graphicData uri="http://schemas.openxmlformats.org/drawingml/2006/table">
            <a:tbl>
              <a:tblPr/>
              <a:tblGrid>
                <a:gridCol w="3476625">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5495925">
                  <a:extLst>
                    <a:ext uri="{9D8B030D-6E8A-4147-A177-3AD203B41FA5}">
                      <a16:colId xmlns:a16="http://schemas.microsoft.com/office/drawing/2014/main" val="20002"/>
                    </a:ext>
                  </a:extLst>
                </a:gridCol>
              </a:tblGrid>
              <a:tr h="563336">
                <a:tc>
                  <a:txBody>
                    <a:bodyPr/>
                    <a:lstStyle/>
                    <a:p>
                      <a:r>
                        <a:rPr sz="1875" b="1">
                          <a:solidFill>
                            <a:schemeClr val="accent1"/>
                          </a:solidFill>
                          <a:latin typeface="Arial"/>
                          <a:ea typeface="Arial"/>
                          <a:cs typeface="Arial"/>
                        </a:rPr>
                        <a:t>Role</a:t>
                      </a:r>
                    </a:p>
                  </a:txBody>
                  <a:tcPr marL="133350" marR="133350" marT="76200" marB="57150">
                    <a:solidFill>
                      <a:schemeClr val="dk2"/>
                    </a:solidFill>
                  </a:tcPr>
                </a:tc>
                <a:tc>
                  <a:txBody>
                    <a:bodyPr/>
                    <a:lstStyle/>
                    <a:p>
                      <a:r>
                        <a:rPr sz="1875" b="1">
                          <a:solidFill>
                            <a:schemeClr val="accent1"/>
                          </a:solidFill>
                          <a:latin typeface="Arial"/>
                          <a:ea typeface="Arial"/>
                          <a:cs typeface="Arial"/>
                        </a:rPr>
                        <a:t>Source ID</a:t>
                      </a:r>
                    </a:p>
                  </a:txBody>
                  <a:tcPr marL="133350" marR="133350" marT="76200" marB="57150">
                    <a:solidFill>
                      <a:schemeClr val="dk2"/>
                    </a:solidFill>
                  </a:tcPr>
                </a:tc>
                <a:tc>
                  <a:txBody>
                    <a:bodyPr/>
                    <a:lstStyle/>
                    <a:p>
                      <a:r>
                        <a:rPr sz="1875" b="1">
                          <a:solidFill>
                            <a:schemeClr val="accent1"/>
                          </a:solidFill>
                          <a:latin typeface="Arial"/>
                          <a:ea typeface="Arial"/>
                          <a:cs typeface="Arial"/>
                        </a:rPr>
                        <a:t>Canonical color</a:t>
                      </a:r>
                    </a:p>
                  </a:txBody>
                  <a:tcPr marL="133350" marR="133350" marT="76200" marB="57150">
                    <a:solidFill>
                      <a:schemeClr val="dk2"/>
                    </a:solidFill>
                  </a:tcPr>
                </a:tc>
                <a:extLst>
                  <a:ext uri="{0D108BD9-81ED-4DB2-BD59-A6C34878D82A}">
                    <a16:rowId xmlns:a16="http://schemas.microsoft.com/office/drawing/2014/main" val="10000"/>
                  </a:ext>
                </a:extLst>
              </a:tr>
              <a:tr h="563336">
                <a:tc>
                  <a:txBody>
                    <a:bodyPr/>
                    <a:lstStyle/>
                    <a:p>
                      <a:r>
                        <a:rPr sz="1875" b="0">
                          <a:solidFill>
                            <a:schemeClr val="lt1"/>
                          </a:solidFill>
                          <a:latin typeface="Arial"/>
                          <a:ea typeface="Arial"/>
                          <a:cs typeface="Arial"/>
                        </a:rPr>
                        <a:t>background</a:t>
                      </a:r>
                    </a:p>
                  </a:txBody>
                  <a:tcPr marL="133350" marR="133350" marT="76200" marB="57150">
                    <a:solidFill>
                      <a:schemeClr val="dk1"/>
                    </a:solidFill>
                  </a:tcPr>
                </a:tc>
                <a:tc>
                  <a:txBody>
                    <a:bodyPr/>
                    <a:lstStyle/>
                    <a:p>
                      <a:r>
                        <a:rPr sz="1875" b="0">
                          <a:solidFill>
                            <a:schemeClr val="lt1"/>
                          </a:solidFill>
                          <a:latin typeface="Arial"/>
                          <a:ea typeface="Arial"/>
                          <a:cs typeface="Arial"/>
                        </a:rPr>
                        <a:t>color_04</a:t>
                      </a:r>
                    </a:p>
                  </a:txBody>
                  <a:tcPr marL="133350" marR="133350" marT="76200" marB="57150">
                    <a:solidFill>
                      <a:schemeClr val="dk1"/>
                    </a:solidFill>
                  </a:tcPr>
                </a:tc>
                <a:tc>
                  <a:txBody>
                    <a:bodyPr/>
                    <a:lstStyle/>
                    <a:p>
                      <a:r>
                        <a:rPr sz="1875" b="0">
                          <a:solidFill>
                            <a:schemeClr val="lt1"/>
                          </a:solidFill>
                          <a:latin typeface="Arial"/>
                          <a:ea typeface="Arial"/>
                          <a:cs typeface="Arial"/>
                        </a:rPr>
                        <a:t>#0A1924</a:t>
                      </a:r>
                    </a:p>
                  </a:txBody>
                  <a:tcPr marL="133350" marR="133350" marT="76200" marB="57150">
                    <a:solidFill>
                      <a:schemeClr val="dk1"/>
                    </a:solidFill>
                  </a:tcPr>
                </a:tc>
                <a:extLst>
                  <a:ext uri="{0D108BD9-81ED-4DB2-BD59-A6C34878D82A}">
                    <a16:rowId xmlns:a16="http://schemas.microsoft.com/office/drawing/2014/main" val="10001"/>
                  </a:ext>
                </a:extLst>
              </a:tr>
              <a:tr h="563336">
                <a:tc>
                  <a:txBody>
                    <a:bodyPr/>
                    <a:lstStyle/>
                    <a:p>
                      <a:r>
                        <a:rPr sz="1875" b="0">
                          <a:solidFill>
                            <a:schemeClr val="lt1"/>
                          </a:solidFill>
                          <a:latin typeface="Arial"/>
                          <a:ea typeface="Arial"/>
                          <a:cs typeface="Arial"/>
                        </a:rPr>
                        <a:t>foreground</a:t>
                      </a:r>
                    </a:p>
                  </a:txBody>
                  <a:tcPr marL="133350" marR="133350" marT="76200" marB="57150">
                    <a:solidFill>
                      <a:schemeClr val="dk1"/>
                    </a:solidFill>
                  </a:tcPr>
                </a:tc>
                <a:tc>
                  <a:txBody>
                    <a:bodyPr/>
                    <a:lstStyle/>
                    <a:p>
                      <a:r>
                        <a:rPr sz="1875" b="0">
                          <a:solidFill>
                            <a:schemeClr val="lt1"/>
                          </a:solidFill>
                          <a:latin typeface="Arial"/>
                          <a:ea typeface="Arial"/>
                          <a:cs typeface="Arial"/>
                        </a:rPr>
                        <a:t>color_32</a:t>
                      </a:r>
                    </a:p>
                  </a:txBody>
                  <a:tcPr marL="133350" marR="133350" marT="76200" marB="57150">
                    <a:solidFill>
                      <a:schemeClr val="dk1"/>
                    </a:solidFill>
                  </a:tcPr>
                </a:tc>
                <a:tc>
                  <a:txBody>
                    <a:bodyPr/>
                    <a:lstStyle/>
                    <a:p>
                      <a:r>
                        <a:rPr sz="1875" b="0">
                          <a:solidFill>
                            <a:schemeClr val="lt1"/>
                          </a:solidFill>
                          <a:latin typeface="Arial"/>
                          <a:ea typeface="Arial"/>
                          <a:cs typeface="Arial"/>
                        </a:rPr>
                        <a:t>#FCFDF7</a:t>
                      </a:r>
                    </a:p>
                  </a:txBody>
                  <a:tcPr marL="133350" marR="133350" marT="76200" marB="57150">
                    <a:solidFill>
                      <a:schemeClr val="dk1"/>
                    </a:solidFill>
                  </a:tcPr>
                </a:tc>
                <a:extLst>
                  <a:ext uri="{0D108BD9-81ED-4DB2-BD59-A6C34878D82A}">
                    <a16:rowId xmlns:a16="http://schemas.microsoft.com/office/drawing/2014/main" val="10002"/>
                  </a:ext>
                </a:extLst>
              </a:tr>
              <a:tr h="563336">
                <a:tc>
                  <a:txBody>
                    <a:bodyPr/>
                    <a:lstStyle/>
                    <a:p>
                      <a:r>
                        <a:rPr sz="1875" b="0">
                          <a:solidFill>
                            <a:schemeClr val="lt1"/>
                          </a:solidFill>
                          <a:latin typeface="Arial"/>
                          <a:ea typeface="Arial"/>
                          <a:cs typeface="Arial"/>
                        </a:rPr>
                        <a:t>primary</a:t>
                      </a:r>
                    </a:p>
                  </a:txBody>
                  <a:tcPr marL="133350" marR="133350" marT="76200" marB="57150">
                    <a:solidFill>
                      <a:schemeClr val="dk1"/>
                    </a:solidFill>
                  </a:tcPr>
                </a:tc>
                <a:tc>
                  <a:txBody>
                    <a:bodyPr/>
                    <a:lstStyle/>
                    <a:p>
                      <a:r>
                        <a:rPr sz="1875" b="0">
                          <a:solidFill>
                            <a:schemeClr val="lt1"/>
                          </a:solidFill>
                          <a:latin typeface="Arial"/>
                          <a:ea typeface="Arial"/>
                          <a:cs typeface="Arial"/>
                        </a:rPr>
                        <a:t>color_28</a:t>
                      </a:r>
                    </a:p>
                  </a:txBody>
                  <a:tcPr marL="133350" marR="133350" marT="76200" marB="57150">
                    <a:solidFill>
                      <a:schemeClr val="dk1"/>
                    </a:solidFill>
                  </a:tcPr>
                </a:tc>
                <a:tc>
                  <a:txBody>
                    <a:bodyPr/>
                    <a:lstStyle/>
                    <a:p>
                      <a:r>
                        <a:rPr sz="1875" b="0">
                          <a:solidFill>
                            <a:schemeClr val="lt1"/>
                          </a:solidFill>
                          <a:latin typeface="Arial"/>
                          <a:ea typeface="Arial"/>
                          <a:cs typeface="Arial"/>
                        </a:rPr>
                        <a:t>#F8C265</a:t>
                      </a:r>
                    </a:p>
                  </a:txBody>
                  <a:tcPr marL="133350" marR="133350" marT="76200" marB="57150">
                    <a:solidFill>
                      <a:schemeClr val="dk1"/>
                    </a:solidFill>
                  </a:tcPr>
                </a:tc>
                <a:extLst>
                  <a:ext uri="{0D108BD9-81ED-4DB2-BD59-A6C34878D82A}">
                    <a16:rowId xmlns:a16="http://schemas.microsoft.com/office/drawing/2014/main" val="10003"/>
                  </a:ext>
                </a:extLst>
              </a:tr>
              <a:tr h="563336">
                <a:tc>
                  <a:txBody>
                    <a:bodyPr/>
                    <a:lstStyle/>
                    <a:p>
                      <a:r>
                        <a:rPr sz="1875" b="0">
                          <a:solidFill>
                            <a:schemeClr val="lt1"/>
                          </a:solidFill>
                          <a:latin typeface="Arial"/>
                          <a:ea typeface="Arial"/>
                          <a:cs typeface="Arial"/>
                        </a:rPr>
                        <a:t>secondary</a:t>
                      </a:r>
                    </a:p>
                  </a:txBody>
                  <a:tcPr marL="133350" marR="133350" marT="76200" marB="57150">
                    <a:solidFill>
                      <a:schemeClr val="dk1"/>
                    </a:solidFill>
                  </a:tcPr>
                </a:tc>
                <a:tc>
                  <a:txBody>
                    <a:bodyPr/>
                    <a:lstStyle/>
                    <a:p>
                      <a:r>
                        <a:rPr sz="1875" b="0">
                          <a:solidFill>
                            <a:schemeClr val="lt1"/>
                          </a:solidFill>
                          <a:latin typeface="Arial"/>
                          <a:ea typeface="Arial"/>
                          <a:cs typeface="Arial"/>
                        </a:rPr>
                        <a:t>color_06</a:t>
                      </a:r>
                    </a:p>
                  </a:txBody>
                  <a:tcPr marL="133350" marR="133350" marT="76200" marB="57150">
                    <a:solidFill>
                      <a:schemeClr val="dk1"/>
                    </a:solidFill>
                  </a:tcPr>
                </a:tc>
                <a:tc>
                  <a:txBody>
                    <a:bodyPr/>
                    <a:lstStyle/>
                    <a:p>
                      <a:r>
                        <a:rPr sz="1875" b="0">
                          <a:solidFill>
                            <a:schemeClr val="lt1"/>
                          </a:solidFill>
                          <a:latin typeface="Arial"/>
                          <a:ea typeface="Arial"/>
                          <a:cs typeface="Arial"/>
                        </a:rPr>
                        <a:t>#022742</a:t>
                      </a:r>
                    </a:p>
                  </a:txBody>
                  <a:tcPr marL="133350" marR="133350" marT="76200" marB="57150">
                    <a:solidFill>
                      <a:schemeClr val="dk1"/>
                    </a:solidFill>
                  </a:tcPr>
                </a:tc>
                <a:extLst>
                  <a:ext uri="{0D108BD9-81ED-4DB2-BD59-A6C34878D82A}">
                    <a16:rowId xmlns:a16="http://schemas.microsoft.com/office/drawing/2014/main" val="10004"/>
                  </a:ext>
                </a:extLst>
              </a:tr>
              <a:tr h="563336">
                <a:tc>
                  <a:txBody>
                    <a:bodyPr/>
                    <a:lstStyle/>
                    <a:p>
                      <a:r>
                        <a:rPr sz="1875" b="0">
                          <a:solidFill>
                            <a:schemeClr val="lt1"/>
                          </a:solidFill>
                          <a:latin typeface="Arial"/>
                          <a:ea typeface="Arial"/>
                          <a:cs typeface="Arial"/>
                        </a:rPr>
                        <a:t>warning</a:t>
                      </a:r>
                    </a:p>
                  </a:txBody>
                  <a:tcPr marL="133350" marR="133350" marT="76200" marB="57150">
                    <a:solidFill>
                      <a:schemeClr val="dk1"/>
                    </a:solidFill>
                  </a:tcPr>
                </a:tc>
                <a:tc>
                  <a:txBody>
                    <a:bodyPr/>
                    <a:lstStyle/>
                    <a:p>
                      <a:r>
                        <a:rPr sz="1875" b="0">
                          <a:solidFill>
                            <a:schemeClr val="lt1"/>
                          </a:solidFill>
                          <a:latin typeface="Arial"/>
                          <a:ea typeface="Arial"/>
                          <a:cs typeface="Arial"/>
                        </a:rPr>
                        <a:t>color_29</a:t>
                      </a:r>
                    </a:p>
                  </a:txBody>
                  <a:tcPr marL="133350" marR="133350" marT="76200" marB="57150">
                    <a:solidFill>
                      <a:schemeClr val="dk1"/>
                    </a:solidFill>
                  </a:tcPr>
                </a:tc>
                <a:tc>
                  <a:txBody>
                    <a:bodyPr/>
                    <a:lstStyle/>
                    <a:p>
                      <a:r>
                        <a:rPr sz="1875" b="0">
                          <a:solidFill>
                            <a:schemeClr val="lt1"/>
                          </a:solidFill>
                          <a:latin typeface="Arial"/>
                          <a:ea typeface="Arial"/>
                          <a:cs typeface="Arial"/>
                        </a:rPr>
                        <a:t>#FBD484</a:t>
                      </a:r>
                    </a:p>
                  </a:txBody>
                  <a:tcPr marL="133350" marR="133350" marT="76200" marB="57150">
                    <a:solidFill>
                      <a:schemeClr val="dk1"/>
                    </a:solidFill>
                  </a:tcPr>
                </a:tc>
                <a:extLst>
                  <a:ext uri="{0D108BD9-81ED-4DB2-BD59-A6C34878D82A}">
                    <a16:rowId xmlns:a16="http://schemas.microsoft.com/office/drawing/2014/main" val="10005"/>
                  </a:ext>
                </a:extLst>
              </a:tr>
              <a:tr h="563336">
                <a:tc>
                  <a:txBody>
                    <a:bodyPr/>
                    <a:lstStyle/>
                    <a:p>
                      <a:r>
                        <a:rPr sz="1875" b="0">
                          <a:solidFill>
                            <a:schemeClr val="lt1"/>
                          </a:solidFill>
                          <a:latin typeface="Arial"/>
                          <a:ea typeface="Arial"/>
                          <a:cs typeface="Arial"/>
                        </a:rPr>
                        <a:t>cyan</a:t>
                      </a:r>
                    </a:p>
                  </a:txBody>
                  <a:tcPr marL="133350" marR="133350" marT="76200" marB="57150">
                    <a:solidFill>
                      <a:schemeClr val="dk1"/>
                    </a:solidFill>
                  </a:tcPr>
                </a:tc>
                <a:tc>
                  <a:txBody>
                    <a:bodyPr/>
                    <a:lstStyle/>
                    <a:p>
                      <a:r>
                        <a:rPr sz="1875" b="0">
                          <a:solidFill>
                            <a:schemeClr val="lt1"/>
                          </a:solidFill>
                          <a:latin typeface="Arial"/>
                          <a:ea typeface="Arial"/>
                          <a:cs typeface="Arial"/>
                        </a:rPr>
                        <a:t>color_27</a:t>
                      </a:r>
                    </a:p>
                  </a:txBody>
                  <a:tcPr marL="133350" marR="133350" marT="76200" marB="57150">
                    <a:solidFill>
                      <a:schemeClr val="dk1"/>
                    </a:solidFill>
                  </a:tcPr>
                </a:tc>
                <a:tc>
                  <a:txBody>
                    <a:bodyPr/>
                    <a:lstStyle/>
                    <a:p>
                      <a:r>
                        <a:rPr sz="1875" b="0">
                          <a:solidFill>
                            <a:schemeClr val="lt1"/>
                          </a:solidFill>
                          <a:latin typeface="Arial"/>
                          <a:ea typeface="Arial"/>
                          <a:cs typeface="Arial"/>
                        </a:rPr>
                        <a:t>#73DDEA</a:t>
                      </a:r>
                    </a:p>
                  </a:txBody>
                  <a:tcPr marL="133350" marR="133350" marT="76200" marB="57150">
                    <a:solidFill>
                      <a:schemeClr val="dk1"/>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65FD4597-CCAC-47D7-BDCE-0D84847096B1}"/>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39D7705C-1C23-40F3-880C-F361BCF46494}"/>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250726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A550CC-32F3-446D-9348-12CD463E5BD0}"/>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BD0702CE-5B9E-4C11-A782-949AE13A5B35}"/>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11 / 24</a:t>
            </a:r>
          </a:p>
        </p:txBody>
      </p:sp>
      <p:sp>
        <p:nvSpPr>
          <p:cNvPr id="3" name="Rectangle 2">
            <a:extLst>
              <a:ext uri="{FF2B5EF4-FFF2-40B4-BE49-F238E27FC236}">
                <a16:creationId xmlns:a16="http://schemas.microsoft.com/office/drawing/2014/main" id="{5D907DA3-4008-49E6-B5E0-1BDD9692F863}"/>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Image identity can conflict with conventions</a:t>
            </a:r>
          </a:p>
        </p:txBody>
      </p:sp>
      <p:sp>
        <p:nvSpPr>
          <p:cNvPr id="4" name="Rectangle 3">
            <a:extLst>
              <a:ext uri="{FF2B5EF4-FFF2-40B4-BE49-F238E27FC236}">
                <a16:creationId xmlns:a16="http://schemas.microsoft.com/office/drawing/2014/main" id="{1575FE97-CCE9-4D65-845C-7AB0EC6B9017}"/>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Do not create an unrelated hue just to fill a familiar label.</a:t>
            </a:r>
          </a:p>
        </p:txBody>
      </p:sp>
      <p:sp>
        <p:nvSpPr>
          <p:cNvPr id="5" name="Rectangle 4">
            <a:extLst>
              <a:ext uri="{FF2B5EF4-FFF2-40B4-BE49-F238E27FC236}">
                <a16:creationId xmlns:a16="http://schemas.microsoft.com/office/drawing/2014/main" id="{6A822FF6-9EAA-4C03-B1F6-534A26EA0CE5}"/>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A warm warning is available</a:t>
            </a:r>
          </a:p>
        </p:txBody>
      </p:sp>
      <p:sp>
        <p:nvSpPr>
          <p:cNvPr id="6" name="Rectangle 5">
            <a:extLst>
              <a:ext uri="{FF2B5EF4-FFF2-40B4-BE49-F238E27FC236}">
                <a16:creationId xmlns:a16="http://schemas.microsoft.com/office/drawing/2014/main" id="{3DDB29F2-2462-478B-AFD9-B2039F595F9C}"/>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Black-Gold maps warning to color_29 · #FBD484.</a:t>
            </a:r>
          </a:p>
        </p:txBody>
      </p:sp>
      <p:sp>
        <p:nvSpPr>
          <p:cNvPr id="7" name="Rectangle 6">
            <a:extLst>
              <a:ext uri="{FF2B5EF4-FFF2-40B4-BE49-F238E27FC236}">
                <a16:creationId xmlns:a16="http://schemas.microsoft.com/office/drawing/2014/main" id="{0B77BBB1-011C-4C07-B97E-756EE44D9A87}"/>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Magenta is unavailable</a:t>
            </a:r>
          </a:p>
        </p:txBody>
      </p:sp>
      <p:sp>
        <p:nvSpPr>
          <p:cNvPr id="8" name="Rectangle 7">
            <a:extLst>
              <a:ext uri="{FF2B5EF4-FFF2-40B4-BE49-F238E27FC236}">
                <a16:creationId xmlns:a16="http://schemas.microsoft.com/office/drawing/2014/main" id="{D79E1408-A32D-449C-BEA4-98A1D7B3234C}"/>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The nearest image hue is used and the mismatch is reported.</a:t>
            </a:r>
          </a:p>
        </p:txBody>
      </p:sp>
      <p:sp>
        <p:nvSpPr>
          <p:cNvPr id="9" name="Rectangle 8">
            <a:extLst>
              <a:ext uri="{FF2B5EF4-FFF2-40B4-BE49-F238E27FC236}">
                <a16:creationId xmlns:a16="http://schemas.microsoft.com/office/drawing/2014/main" id="{BD16413F-9E67-41E2-890B-3B1C47575135}"/>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Aliases are information</a:t>
            </a:r>
          </a:p>
        </p:txBody>
      </p:sp>
      <p:sp>
        <p:nvSpPr>
          <p:cNvPr id="10" name="Rectangle 9">
            <a:extLst>
              <a:ext uri="{FF2B5EF4-FFF2-40B4-BE49-F238E27FC236}">
                <a16:creationId xmlns:a16="http://schemas.microsoft.com/office/drawing/2014/main" id="{77DD74F9-12A5-4B5E-B736-598A646646FD}"/>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Different named roles may share a color; collisions must stay visible.</a:t>
            </a:r>
          </a:p>
        </p:txBody>
      </p:sp>
      <p:sp>
        <p:nvSpPr>
          <p:cNvPr id="11" name="Rectangle 10">
            <a:extLst>
              <a:ext uri="{FF2B5EF4-FFF2-40B4-BE49-F238E27FC236}">
                <a16:creationId xmlns:a16="http://schemas.microsoft.com/office/drawing/2014/main" id="{1E166C4A-4773-4B6C-B629-122CC220BF9E}"/>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409FECF8-9AE7-4101-855B-9FD7D47149CA}"/>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939452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D211E7-E20B-400B-8E01-A09847EAF0DE}"/>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0844C21F-FB38-4B94-B961-984F8BBBFED3}"/>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12 / 24</a:t>
            </a:r>
          </a:p>
        </p:txBody>
      </p:sp>
      <p:sp>
        <p:nvSpPr>
          <p:cNvPr id="3" name="Rectangle 2">
            <a:extLst>
              <a:ext uri="{FF2B5EF4-FFF2-40B4-BE49-F238E27FC236}">
                <a16:creationId xmlns:a16="http://schemas.microsoft.com/office/drawing/2014/main" id="{E612D7B8-BD5B-4809-87A1-26101B0B5C1A}"/>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Derivation changes use, not origin</a:t>
            </a:r>
          </a:p>
        </p:txBody>
      </p:sp>
      <p:sp>
        <p:nvSpPr>
          <p:cNvPr id="4" name="Rectangle 3">
            <a:extLst>
              <a:ext uri="{FF2B5EF4-FFF2-40B4-BE49-F238E27FC236}">
                <a16:creationId xmlns:a16="http://schemas.microsoft.com/office/drawing/2014/main" id="{C900EB93-5E63-486B-A1E3-0C87DD305622}"/>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Canonical colors remain untouched when applications need readable variations.</a:t>
            </a:r>
          </a:p>
        </p:txBody>
      </p:sp>
      <p:sp>
        <p:nvSpPr>
          <p:cNvPr id="5" name="Rectangle 4">
            <a:extLst>
              <a:ext uri="{FF2B5EF4-FFF2-40B4-BE49-F238E27FC236}">
                <a16:creationId xmlns:a16="http://schemas.microsoft.com/office/drawing/2014/main" id="{984027B5-3D09-45D8-AA98-5FB20F84EEE0}"/>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Start from a source ID</a:t>
            </a:r>
          </a:p>
        </p:txBody>
      </p:sp>
      <p:sp>
        <p:nvSpPr>
          <p:cNvPr id="6" name="Rectangle 5">
            <a:extLst>
              <a:ext uri="{FF2B5EF4-FFF2-40B4-BE49-F238E27FC236}">
                <a16:creationId xmlns:a16="http://schemas.microsoft.com/office/drawing/2014/main" id="{A232F6B8-C4BD-44E0-AD08-49591914E3CC}"/>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Record the role, source color and requested perceptual values.</a:t>
            </a:r>
          </a:p>
        </p:txBody>
      </p:sp>
      <p:sp>
        <p:nvSpPr>
          <p:cNvPr id="7" name="Rectangle 6">
            <a:extLst>
              <a:ext uri="{FF2B5EF4-FFF2-40B4-BE49-F238E27FC236}">
                <a16:creationId xmlns:a16="http://schemas.microsoft.com/office/drawing/2014/main" id="{BFE349D8-CE33-47A9-BC5D-3C4ADA5DFC65}"/>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Adjust for an actual need</a:t>
            </a:r>
          </a:p>
        </p:txBody>
      </p:sp>
      <p:sp>
        <p:nvSpPr>
          <p:cNvPr id="8" name="Rectangle 7">
            <a:extLst>
              <a:ext uri="{FF2B5EF4-FFF2-40B4-BE49-F238E27FC236}">
                <a16:creationId xmlns:a16="http://schemas.microsoft.com/office/drawing/2014/main" id="{C773D3A5-45B1-4B16-B117-58D8FFF6C1F6}"/>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Change lightness or reduce chroma for text, surfaces and states.</a:t>
            </a:r>
          </a:p>
        </p:txBody>
      </p:sp>
      <p:sp>
        <p:nvSpPr>
          <p:cNvPr id="9" name="Rectangle 8">
            <a:extLst>
              <a:ext uri="{FF2B5EF4-FFF2-40B4-BE49-F238E27FC236}">
                <a16:creationId xmlns:a16="http://schemas.microsoft.com/office/drawing/2014/main" id="{0EEC6C27-2F44-4103-BAAF-03B133D34B3C}"/>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Keep hue intent</a:t>
            </a:r>
          </a:p>
        </p:txBody>
      </p:sp>
      <p:sp>
        <p:nvSpPr>
          <p:cNvPr id="10" name="Rectangle 9">
            <a:extLst>
              <a:ext uri="{FF2B5EF4-FFF2-40B4-BE49-F238E27FC236}">
                <a16:creationId xmlns:a16="http://schemas.microsoft.com/office/drawing/2014/main" id="{0F36B8D9-F42C-488D-8933-17E4C32953D9}"/>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Fit sRGB by reducing chroma at fixed lightness and hue; record the result.</a:t>
            </a:r>
          </a:p>
        </p:txBody>
      </p:sp>
      <p:sp>
        <p:nvSpPr>
          <p:cNvPr id="11" name="Rectangle 10">
            <a:extLst>
              <a:ext uri="{FF2B5EF4-FFF2-40B4-BE49-F238E27FC236}">
                <a16:creationId xmlns:a16="http://schemas.microsoft.com/office/drawing/2014/main" id="{33ECB505-3544-499D-851B-3B94DDB00344}"/>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DB8E7B70-6711-40A2-9F6C-B6248E3E30EA}"/>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046921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5E87FC6-C8B0-460C-BD52-4689171D1D9A}"/>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7648A958-C1E4-4605-9CBB-C0820DD3B1F5}"/>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13 / 24</a:t>
            </a:r>
          </a:p>
        </p:txBody>
      </p:sp>
      <p:sp>
        <p:nvSpPr>
          <p:cNvPr id="3" name="Rectangle 2">
            <a:extLst>
              <a:ext uri="{FF2B5EF4-FFF2-40B4-BE49-F238E27FC236}">
                <a16:creationId xmlns:a16="http://schemas.microsoft.com/office/drawing/2014/main" id="{540FABEC-6558-4E51-A87E-5FEFA76C9C8D}"/>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The background regression taught a boundary</a:t>
            </a:r>
          </a:p>
        </p:txBody>
      </p:sp>
      <p:sp>
        <p:nvSpPr>
          <p:cNvPr id="4" name="Rectangle 3">
            <a:extLst>
              <a:ext uri="{FF2B5EF4-FFF2-40B4-BE49-F238E27FC236}">
                <a16:creationId xmlns:a16="http://schemas.microsoft.com/office/drawing/2014/main" id="{798F107F-9D0C-4721-980E-709997F7FE06}"/>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The darkest extracted color is not automatically the best dark surface.</a:t>
            </a:r>
          </a:p>
        </p:txBody>
      </p:sp>
      <p:sp>
        <p:nvSpPr>
          <p:cNvPr id="5" name="Rectangle 4">
            <a:extLst>
              <a:ext uri="{FF2B5EF4-FFF2-40B4-BE49-F238E27FC236}">
                <a16:creationId xmlns:a16="http://schemas.microsoft.com/office/drawing/2014/main" id="{4FBC4F40-D74B-46F1-B49A-C95EBF2ED448}"/>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What looked wrong</a:t>
            </a:r>
          </a:p>
        </p:txBody>
      </p:sp>
      <p:sp>
        <p:nvSpPr>
          <p:cNvPr id="6" name="Rectangle 5">
            <a:extLst>
              <a:ext uri="{FF2B5EF4-FFF2-40B4-BE49-F238E27FC236}">
                <a16:creationId xmlns:a16="http://schemas.microsoft.com/office/drawing/2014/main" id="{5FDAE908-3936-45BF-8371-C9EFF902AA84}"/>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Repeated near-black anchors pulled themes toward flat black backgrounds.</a:t>
            </a:r>
          </a:p>
        </p:txBody>
      </p:sp>
      <p:sp>
        <p:nvSpPr>
          <p:cNvPr id="7" name="Rectangle 6">
            <a:extLst>
              <a:ext uri="{FF2B5EF4-FFF2-40B4-BE49-F238E27FC236}">
                <a16:creationId xmlns:a16="http://schemas.microsoft.com/office/drawing/2014/main" id="{172B3E70-491F-4120-8E3A-BD9E18045200}"/>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What changed</a:t>
            </a:r>
          </a:p>
        </p:txBody>
      </p:sp>
      <p:sp>
        <p:nvSpPr>
          <p:cNvPr id="8" name="Rectangle 7">
            <a:extLst>
              <a:ext uri="{FF2B5EF4-FFF2-40B4-BE49-F238E27FC236}">
                <a16:creationId xmlns:a16="http://schemas.microsoft.com/office/drawing/2014/main" id="{2257305B-46D5-41BD-850E-7B1BFFA651A4}"/>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Coalesce the noise floor; map an identity surface near the configured lightness.</a:t>
            </a:r>
          </a:p>
        </p:txBody>
      </p:sp>
      <p:sp>
        <p:nvSpPr>
          <p:cNvPr id="9" name="Rectangle 8">
            <a:extLst>
              <a:ext uri="{FF2B5EF4-FFF2-40B4-BE49-F238E27FC236}">
                <a16:creationId xmlns:a16="http://schemas.microsoft.com/office/drawing/2014/main" id="{9AAD362F-A0A8-4B1D-BD80-A4D10C1BF96E}"/>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The Black-Gold result</a:t>
            </a:r>
          </a:p>
        </p:txBody>
      </p:sp>
      <p:sp>
        <p:nvSpPr>
          <p:cNvPr id="10" name="Rectangle 9">
            <a:extLst>
              <a:ext uri="{FF2B5EF4-FFF2-40B4-BE49-F238E27FC236}">
                <a16:creationId xmlns:a16="http://schemas.microsoft.com/office/drawing/2014/main" id="{2E802B13-78D4-41BD-AFED-9E1128BEA016}"/>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Background color_04 · #0A1924. Pure black stays in the canonical palette.</a:t>
            </a:r>
          </a:p>
        </p:txBody>
      </p:sp>
      <p:sp>
        <p:nvSpPr>
          <p:cNvPr id="11" name="Rectangle 10">
            <a:extLst>
              <a:ext uri="{FF2B5EF4-FFF2-40B4-BE49-F238E27FC236}">
                <a16:creationId xmlns:a16="http://schemas.microsoft.com/office/drawing/2014/main" id="{B9BC2D4D-389C-42D3-B9F7-6B11F2300AC6}"/>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D7674BA7-992B-44C9-AE9E-94A174A69593}"/>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448869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6158E6-3DA1-456C-BE7E-1F98734ED1B4}"/>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4F1EFCD6-5FF6-47C5-851E-BFE51C6F2D55}"/>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14 / 24</a:t>
            </a:r>
          </a:p>
        </p:txBody>
      </p:sp>
      <p:sp>
        <p:nvSpPr>
          <p:cNvPr id="3" name="Rectangle 2">
            <a:extLst>
              <a:ext uri="{FF2B5EF4-FFF2-40B4-BE49-F238E27FC236}">
                <a16:creationId xmlns:a16="http://schemas.microsoft.com/office/drawing/2014/main" id="{3E5F5DAA-FEFC-4EC8-AB6D-A0366AABE7C5}"/>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Four targets, four native contracts</a:t>
            </a:r>
          </a:p>
        </p:txBody>
      </p:sp>
      <p:sp>
        <p:nvSpPr>
          <p:cNvPr id="4" name="Rectangle 3">
            <a:extLst>
              <a:ext uri="{FF2B5EF4-FFF2-40B4-BE49-F238E27FC236}">
                <a16:creationId xmlns:a16="http://schemas.microsoft.com/office/drawing/2014/main" id="{FB8F5A8C-E46F-425A-91ED-10DA5E1BB538}"/>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The adapter serves real application settings rather than a generic color count.</a:t>
            </a:r>
          </a:p>
        </p:txBody>
      </p:sp>
      <p:graphicFrame>
        <p:nvGraphicFramePr>
          <p:cNvPr id="5" name="Table 4">
            <a:extLst>
              <a:ext uri="{FF2B5EF4-FFF2-40B4-BE49-F238E27FC236}">
                <a16:creationId xmlns:a16="http://schemas.microsoft.com/office/drawing/2014/main" id="{CCB5245C-7259-47D5-9EC2-25F21F26CA6A}"/>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5495925">
                  <a:extLst>
                    <a:ext uri="{9D8B030D-6E8A-4147-A177-3AD203B41FA5}">
                      <a16:colId xmlns:a16="http://schemas.microsoft.com/office/drawing/2014/main" val="20002"/>
                    </a:ext>
                  </a:extLst>
                </a:gridCol>
              </a:tblGrid>
              <a:tr h="742950">
                <a:tc>
                  <a:txBody>
                    <a:bodyPr/>
                    <a:lstStyle/>
                    <a:p>
                      <a:r>
                        <a:rPr sz="1875" b="1">
                          <a:solidFill>
                            <a:schemeClr val="accent1"/>
                          </a:solidFill>
                          <a:latin typeface="Arial"/>
                          <a:ea typeface="Arial"/>
                          <a:cs typeface="Arial"/>
                        </a:rPr>
                        <a:t>Target</a:t>
                      </a:r>
                    </a:p>
                  </a:txBody>
                  <a:tcPr marL="133350" marR="133350" marT="76200" marB="57150">
                    <a:solidFill>
                      <a:schemeClr val="dk2"/>
                    </a:solidFill>
                  </a:tcPr>
                </a:tc>
                <a:tc>
                  <a:txBody>
                    <a:bodyPr/>
                    <a:lstStyle/>
                    <a:p>
                      <a:r>
                        <a:rPr sz="1875" b="1">
                          <a:solidFill>
                            <a:schemeClr val="accent1"/>
                          </a:solidFill>
                          <a:latin typeface="Arial"/>
                          <a:ea typeface="Arial"/>
                          <a:cs typeface="Arial"/>
                        </a:rPr>
                        <a:t>Budget</a:t>
                      </a:r>
                    </a:p>
                  </a:txBody>
                  <a:tcPr marL="133350" marR="133350" marT="76200" marB="57150">
                    <a:solidFill>
                      <a:schemeClr val="dk2"/>
                    </a:solidFill>
                  </a:tcPr>
                </a:tc>
                <a:tc>
                  <a:txBody>
                    <a:bodyPr/>
                    <a:lstStyle/>
                    <a:p>
                      <a:r>
                        <a:rPr sz="1875" b="1">
                          <a:solidFill>
                            <a:schemeClr val="accent1"/>
                          </a:solidFill>
                          <a:latin typeface="Arial"/>
                          <a:ea typeface="Arial"/>
                          <a:cs typeface="Arial"/>
                        </a:rPr>
                        <a:t>Native output</a:t>
                      </a:r>
                    </a:p>
                  </a:txBody>
                  <a:tcPr marL="133350" marR="133350" marT="76200" marB="57150">
                    <a:solidFill>
                      <a:schemeClr val="dk2"/>
                    </a:solidFill>
                  </a:tcPr>
                </a:tc>
                <a:extLst>
                  <a:ext uri="{0D108BD9-81ED-4DB2-BD59-A6C34878D82A}">
                    <a16:rowId xmlns:a16="http://schemas.microsoft.com/office/drawing/2014/main" val="10000"/>
                  </a:ext>
                </a:extLst>
              </a:tr>
              <a:tr h="742950">
                <a:tc>
                  <a:txBody>
                    <a:bodyPr/>
                    <a:lstStyle/>
                    <a:p>
                      <a:r>
                        <a:rPr sz="1875" b="0">
                          <a:solidFill>
                            <a:schemeClr val="lt1"/>
                          </a:solidFill>
                          <a:latin typeface="Arial"/>
                          <a:ea typeface="Arial"/>
                          <a:cs typeface="Arial"/>
                        </a:rPr>
                        <a:t>Windows Terminal</a:t>
                      </a:r>
                    </a:p>
                  </a:txBody>
                  <a:tcPr marL="133350" marR="133350" marT="76200" marB="57150">
                    <a:solidFill>
                      <a:schemeClr val="dk1"/>
                    </a:solidFill>
                  </a:tcPr>
                </a:tc>
                <a:tc>
                  <a:txBody>
                    <a:bodyPr/>
                    <a:lstStyle/>
                    <a:p>
                      <a:r>
                        <a:rPr sz="1875" b="0">
                          <a:solidFill>
                            <a:schemeClr val="lt1"/>
                          </a:solidFill>
                          <a:latin typeface="Arial"/>
                          <a:ea typeface="Arial"/>
                          <a:cs typeface="Arial"/>
                        </a:rPr>
                        <a:t>20</a:t>
                      </a:r>
                    </a:p>
                  </a:txBody>
                  <a:tcPr marL="133350" marR="133350" marT="76200" marB="57150">
                    <a:solidFill>
                      <a:schemeClr val="dk1"/>
                    </a:solidFill>
                  </a:tcPr>
                </a:tc>
                <a:tc>
                  <a:txBody>
                    <a:bodyPr/>
                    <a:lstStyle/>
                    <a:p>
                      <a:r>
                        <a:rPr sz="1875" b="0">
                          <a:solidFill>
                            <a:schemeClr val="lt1"/>
                          </a:solidFill>
                          <a:latin typeface="Arial"/>
                          <a:ea typeface="Arial"/>
                          <a:cs typeface="Arial"/>
                        </a:rPr>
                        <a:t>Scheme JSON: 16 ANSI + 4 application roles</a:t>
                      </a:r>
                    </a:p>
                  </a:txBody>
                  <a:tcPr marL="133350" marR="133350" marT="76200" marB="57150">
                    <a:solidFill>
                      <a:schemeClr val="dk1"/>
                    </a:solidFill>
                  </a:tcPr>
                </a:tc>
                <a:extLst>
                  <a:ext uri="{0D108BD9-81ED-4DB2-BD59-A6C34878D82A}">
                    <a16:rowId xmlns:a16="http://schemas.microsoft.com/office/drawing/2014/main" val="10001"/>
                  </a:ext>
                </a:extLst>
              </a:tr>
              <a:tr h="742950">
                <a:tc>
                  <a:txBody>
                    <a:bodyPr/>
                    <a:lstStyle/>
                    <a:p>
                      <a:r>
                        <a:rPr sz="1875" b="0">
                          <a:solidFill>
                            <a:schemeClr val="lt1"/>
                          </a:solidFill>
                          <a:latin typeface="Arial"/>
                          <a:ea typeface="Arial"/>
                          <a:cs typeface="Arial"/>
                        </a:rPr>
                        <a:t>SiYuan</a:t>
                      </a:r>
                    </a:p>
                  </a:txBody>
                  <a:tcPr marL="133350" marR="133350" marT="76200" marB="57150">
                    <a:solidFill>
                      <a:schemeClr val="dk1"/>
                    </a:solidFill>
                  </a:tcPr>
                </a:tc>
                <a:tc>
                  <a:txBody>
                    <a:bodyPr/>
                    <a:lstStyle/>
                    <a:p>
                      <a:r>
                        <a:rPr sz="1875" b="0">
                          <a:solidFill>
                            <a:schemeClr val="lt1"/>
                          </a:solidFill>
                          <a:latin typeface="Arial"/>
                          <a:ea typeface="Arial"/>
                          <a:cs typeface="Arial"/>
                        </a:rPr>
                        <a:t>64</a:t>
                      </a:r>
                    </a:p>
                  </a:txBody>
                  <a:tcPr marL="133350" marR="133350" marT="76200" marB="57150">
                    <a:solidFill>
                      <a:schemeClr val="dk1"/>
                    </a:solidFill>
                  </a:tcPr>
                </a:tc>
                <a:tc>
                  <a:txBody>
                    <a:bodyPr/>
                    <a:lstStyle/>
                    <a:p>
                      <a:r>
                        <a:rPr sz="1875" b="0">
                          <a:solidFill>
                            <a:schemeClr val="lt1"/>
                          </a:solidFill>
                          <a:latin typeface="Arial"/>
                          <a:ea typeface="Arial"/>
                          <a:cs typeface="Arial"/>
                        </a:rPr>
                        <a:t>Dark CSS, metadata, README, previews, ZIP</a:t>
                      </a:r>
                    </a:p>
                  </a:txBody>
                  <a:tcPr marL="133350" marR="133350" marT="76200" marB="57150">
                    <a:solidFill>
                      <a:schemeClr val="dk1"/>
                    </a:solidFill>
                  </a:tcPr>
                </a:tc>
                <a:extLst>
                  <a:ext uri="{0D108BD9-81ED-4DB2-BD59-A6C34878D82A}">
                    <a16:rowId xmlns:a16="http://schemas.microsoft.com/office/drawing/2014/main" val="10002"/>
                  </a:ext>
                </a:extLst>
              </a:tr>
              <a:tr h="742950">
                <a:tc>
                  <a:txBody>
                    <a:bodyPr/>
                    <a:lstStyle/>
                    <a:p>
                      <a:r>
                        <a:rPr sz="1875" b="0">
                          <a:solidFill>
                            <a:schemeClr val="lt1"/>
                          </a:solidFill>
                          <a:latin typeface="Arial"/>
                          <a:ea typeface="Arial"/>
                          <a:cs typeface="Arial"/>
                        </a:rPr>
                        <a:t>Typora</a:t>
                      </a:r>
                    </a:p>
                  </a:txBody>
                  <a:tcPr marL="133350" marR="133350" marT="76200" marB="57150">
                    <a:solidFill>
                      <a:schemeClr val="dk1"/>
                    </a:solidFill>
                  </a:tcPr>
                </a:tc>
                <a:tc>
                  <a:txBody>
                    <a:bodyPr/>
                    <a:lstStyle/>
                    <a:p>
                      <a:r>
                        <a:rPr sz="1875" b="0">
                          <a:solidFill>
                            <a:schemeClr val="lt1"/>
                          </a:solidFill>
                          <a:latin typeface="Arial"/>
                          <a:ea typeface="Arial"/>
                          <a:cs typeface="Arial"/>
                        </a:rPr>
                        <a:t>40</a:t>
                      </a:r>
                    </a:p>
                  </a:txBody>
                  <a:tcPr marL="133350" marR="133350" marT="76200" marB="57150">
                    <a:solidFill>
                      <a:schemeClr val="dk1"/>
                    </a:solidFill>
                  </a:tcPr>
                </a:tc>
                <a:tc>
                  <a:txBody>
                    <a:bodyPr/>
                    <a:lstStyle/>
                    <a:p>
                      <a:r>
                        <a:rPr sz="1875" b="0">
                          <a:solidFill>
                            <a:schemeClr val="lt1"/>
                          </a:solidFill>
                          <a:latin typeface="Arial"/>
                          <a:ea typeface="Arial"/>
                          <a:cs typeface="Arial"/>
                        </a:rPr>
                        <a:t>CSS for document, code, sidebar and states</a:t>
                      </a:r>
                    </a:p>
                  </a:txBody>
                  <a:tcPr marL="133350" marR="133350" marT="76200" marB="57150">
                    <a:solidFill>
                      <a:schemeClr val="dk1"/>
                    </a:solidFill>
                  </a:tcPr>
                </a:tc>
                <a:extLst>
                  <a:ext uri="{0D108BD9-81ED-4DB2-BD59-A6C34878D82A}">
                    <a16:rowId xmlns:a16="http://schemas.microsoft.com/office/drawing/2014/main" val="10003"/>
                  </a:ext>
                </a:extLst>
              </a:tr>
              <a:tr h="742950">
                <a:tc>
                  <a:txBody>
                    <a:bodyPr/>
                    <a:lstStyle/>
                    <a:p>
                      <a:r>
                        <a:rPr sz="1875" b="0">
                          <a:solidFill>
                            <a:schemeClr val="lt1"/>
                          </a:solidFill>
                          <a:latin typeface="Arial"/>
                          <a:ea typeface="Arial"/>
                          <a:cs typeface="Arial"/>
                        </a:rPr>
                        <a:t>PowerPoint</a:t>
                      </a:r>
                    </a:p>
                  </a:txBody>
                  <a:tcPr marL="133350" marR="133350" marT="76200" marB="57150">
                    <a:solidFill>
                      <a:schemeClr val="dk1"/>
                    </a:solidFill>
                  </a:tcPr>
                </a:tc>
                <a:tc>
                  <a:txBody>
                    <a:bodyPr/>
                    <a:lstStyle/>
                    <a:p>
                      <a:r>
                        <a:rPr sz="1875" b="0">
                          <a:solidFill>
                            <a:schemeClr val="lt1"/>
                          </a:solidFill>
                          <a:latin typeface="Arial"/>
                          <a:ea typeface="Arial"/>
                          <a:cs typeface="Arial"/>
                        </a:rPr>
                        <a:t>24</a:t>
                      </a:r>
                    </a:p>
                  </a:txBody>
                  <a:tcPr marL="133350" marR="133350" marT="76200" marB="57150">
                    <a:solidFill>
                      <a:schemeClr val="dk1"/>
                    </a:solidFill>
                  </a:tcPr>
                </a:tc>
                <a:tc>
                  <a:txBody>
                    <a:bodyPr/>
                    <a:lstStyle/>
                    <a:p>
                      <a:r>
                        <a:rPr sz="1875" b="0">
                          <a:solidFill>
                            <a:schemeClr val="lt1"/>
                          </a:solidFill>
                          <a:latin typeface="Arial"/>
                          <a:ea typeface="Arial"/>
                          <a:cs typeface="Arial"/>
                        </a:rPr>
                        <a:t>12-slot color XML + editable sample deck</a:t>
                      </a:r>
                    </a:p>
                  </a:txBody>
                  <a:tcPr marL="133350" marR="133350" marT="76200" marB="57150">
                    <a:solidFill>
                      <a:schemeClr val="dk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AB5A030B-F06C-4ECC-845A-3918A1AC3B95}"/>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07F3D2F3-E7E0-4AA1-B399-EDC89C1E63DF}"/>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441206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F029DE-9BB5-4521-B9A5-1CD012DC0B1D}"/>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A6A0468B-FAD5-45E8-8451-8D49BC3E7B66}"/>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15 / 24</a:t>
            </a:r>
          </a:p>
        </p:txBody>
      </p:sp>
      <p:sp>
        <p:nvSpPr>
          <p:cNvPr id="3" name="Rectangle 2">
            <a:extLst>
              <a:ext uri="{FF2B5EF4-FFF2-40B4-BE49-F238E27FC236}">
                <a16:creationId xmlns:a16="http://schemas.microsoft.com/office/drawing/2014/main" id="{EF6A5801-F8B1-4657-9110-0AC01D7F115E}"/>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Names and unique colors are different counts</a:t>
            </a:r>
          </a:p>
        </p:txBody>
      </p:sp>
      <p:sp>
        <p:nvSpPr>
          <p:cNvPr id="4" name="Rectangle 3">
            <a:extLst>
              <a:ext uri="{FF2B5EF4-FFF2-40B4-BE49-F238E27FC236}">
                <a16:creationId xmlns:a16="http://schemas.microsoft.com/office/drawing/2014/main" id="{DBDFC55E-562F-4065-B671-C1E0470D9F49}"/>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Black-Gold uses only the variations its current adapters need.</a:t>
            </a:r>
          </a:p>
        </p:txBody>
      </p:sp>
      <p:graphicFrame>
        <p:nvGraphicFramePr>
          <p:cNvPr id="5" name="Table 4">
            <a:extLst>
              <a:ext uri="{FF2B5EF4-FFF2-40B4-BE49-F238E27FC236}">
                <a16:creationId xmlns:a16="http://schemas.microsoft.com/office/drawing/2014/main" id="{4A9DEFED-58DA-47D1-98D2-9D42E44848CB}"/>
              </a:ext>
            </a:extLst>
          </p:cNvPr>
          <p:cNvGraphicFramePr/>
          <p:nvPr/>
        </p:nvGraphicFramePr>
        <p:xfrm>
          <a:off x="609600" y="2114550"/>
          <a:ext cx="10972800" cy="3714750"/>
        </p:xfrm>
        <a:graphic>
          <a:graphicData uri="http://schemas.openxmlformats.org/drawingml/2006/table">
            <a:tbl>
              <a:tblPr/>
              <a:tblGrid>
                <a:gridCol w="45720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742950">
                <a:tc>
                  <a:txBody>
                    <a:bodyPr/>
                    <a:lstStyle/>
                    <a:p>
                      <a:r>
                        <a:rPr sz="1875" b="1">
                          <a:solidFill>
                            <a:schemeClr val="accent1"/>
                          </a:solidFill>
                          <a:latin typeface="Arial"/>
                          <a:ea typeface="Arial"/>
                          <a:cs typeface="Arial"/>
                        </a:rPr>
                        <a:t>Target</a:t>
                      </a:r>
                    </a:p>
                  </a:txBody>
                  <a:tcPr marL="133350" marR="133350" marT="76200" marB="57150">
                    <a:solidFill>
                      <a:schemeClr val="dk2"/>
                    </a:solidFill>
                  </a:tcPr>
                </a:tc>
                <a:tc>
                  <a:txBody>
                    <a:bodyPr/>
                    <a:lstStyle/>
                    <a:p>
                      <a:r>
                        <a:rPr sz="1875" b="1">
                          <a:solidFill>
                            <a:schemeClr val="accent1"/>
                          </a:solidFill>
                          <a:latin typeface="Arial"/>
                          <a:ea typeface="Arial"/>
                          <a:cs typeface="Arial"/>
                        </a:rPr>
                        <a:t>Budget</a:t>
                      </a:r>
                    </a:p>
                  </a:txBody>
                  <a:tcPr marL="133350" marR="133350" marT="76200" marB="57150">
                    <a:solidFill>
                      <a:schemeClr val="dk2"/>
                    </a:solidFill>
                  </a:tcPr>
                </a:tc>
                <a:tc>
                  <a:txBody>
                    <a:bodyPr/>
                    <a:lstStyle/>
                    <a:p>
                      <a:r>
                        <a:rPr sz="1875" b="1">
                          <a:solidFill>
                            <a:schemeClr val="accent1"/>
                          </a:solidFill>
                          <a:latin typeface="Arial"/>
                          <a:ea typeface="Arial"/>
                          <a:cs typeface="Arial"/>
                        </a:rPr>
                        <a:t>Named</a:t>
                      </a:r>
                    </a:p>
                  </a:txBody>
                  <a:tcPr marL="133350" marR="133350" marT="76200" marB="57150">
                    <a:solidFill>
                      <a:schemeClr val="dk2"/>
                    </a:solidFill>
                  </a:tcPr>
                </a:tc>
                <a:tc>
                  <a:txBody>
                    <a:bodyPr/>
                    <a:lstStyle/>
                    <a:p>
                      <a:r>
                        <a:rPr sz="1875" b="1">
                          <a:solidFill>
                            <a:schemeClr val="accent1"/>
                          </a:solidFill>
                          <a:latin typeface="Arial"/>
                          <a:ea typeface="Arial"/>
                          <a:cs typeface="Arial"/>
                        </a:rPr>
                        <a:t>Unique</a:t>
                      </a:r>
                    </a:p>
                  </a:txBody>
                  <a:tcPr marL="133350" marR="133350" marT="76200" marB="57150">
                    <a:solidFill>
                      <a:schemeClr val="dk2"/>
                    </a:solidFill>
                  </a:tcPr>
                </a:tc>
                <a:extLst>
                  <a:ext uri="{0D108BD9-81ED-4DB2-BD59-A6C34878D82A}">
                    <a16:rowId xmlns:a16="http://schemas.microsoft.com/office/drawing/2014/main" val="10000"/>
                  </a:ext>
                </a:extLst>
              </a:tr>
              <a:tr h="742950">
                <a:tc>
                  <a:txBody>
                    <a:bodyPr/>
                    <a:lstStyle/>
                    <a:p>
                      <a:r>
                        <a:rPr sz="1875" b="0">
                          <a:solidFill>
                            <a:schemeClr val="lt1"/>
                          </a:solidFill>
                          <a:latin typeface="Arial"/>
                          <a:ea typeface="Arial"/>
                          <a:cs typeface="Arial"/>
                        </a:rPr>
                        <a:t>Windows Terminal</a:t>
                      </a:r>
                    </a:p>
                  </a:txBody>
                  <a:tcPr marL="133350" marR="133350" marT="76200" marB="57150">
                    <a:solidFill>
                      <a:schemeClr val="dk1"/>
                    </a:solidFill>
                  </a:tcPr>
                </a:tc>
                <a:tc>
                  <a:txBody>
                    <a:bodyPr/>
                    <a:lstStyle/>
                    <a:p>
                      <a:r>
                        <a:rPr sz="1875" b="0">
                          <a:solidFill>
                            <a:schemeClr val="lt1"/>
                          </a:solidFill>
                          <a:latin typeface="Arial"/>
                          <a:ea typeface="Arial"/>
                          <a:cs typeface="Arial"/>
                        </a:rPr>
                        <a:t>20</a:t>
                      </a:r>
                    </a:p>
                  </a:txBody>
                  <a:tcPr marL="133350" marR="133350" marT="76200" marB="57150">
                    <a:solidFill>
                      <a:schemeClr val="dk1"/>
                    </a:solidFill>
                  </a:tcPr>
                </a:tc>
                <a:tc>
                  <a:txBody>
                    <a:bodyPr/>
                    <a:lstStyle/>
                    <a:p>
                      <a:r>
                        <a:rPr sz="1875" b="0">
                          <a:solidFill>
                            <a:schemeClr val="lt1"/>
                          </a:solidFill>
                          <a:latin typeface="Arial"/>
                          <a:ea typeface="Arial"/>
                          <a:cs typeface="Arial"/>
                        </a:rPr>
                        <a:t>20</a:t>
                      </a:r>
                    </a:p>
                  </a:txBody>
                  <a:tcPr marL="133350" marR="133350" marT="76200" marB="57150">
                    <a:solidFill>
                      <a:schemeClr val="dk1"/>
                    </a:solidFill>
                  </a:tcPr>
                </a:tc>
                <a:tc>
                  <a:txBody>
                    <a:bodyPr/>
                    <a:lstStyle/>
                    <a:p>
                      <a:r>
                        <a:rPr sz="1875" b="0">
                          <a:solidFill>
                            <a:schemeClr val="lt1"/>
                          </a:solidFill>
                          <a:latin typeface="Arial"/>
                          <a:ea typeface="Arial"/>
                          <a:cs typeface="Arial"/>
                        </a:rPr>
                        <a:t>17</a:t>
                      </a:r>
                    </a:p>
                  </a:txBody>
                  <a:tcPr marL="133350" marR="133350" marT="76200" marB="57150">
                    <a:solidFill>
                      <a:schemeClr val="dk1"/>
                    </a:solidFill>
                  </a:tcPr>
                </a:tc>
                <a:extLst>
                  <a:ext uri="{0D108BD9-81ED-4DB2-BD59-A6C34878D82A}">
                    <a16:rowId xmlns:a16="http://schemas.microsoft.com/office/drawing/2014/main" val="10001"/>
                  </a:ext>
                </a:extLst>
              </a:tr>
              <a:tr h="742950">
                <a:tc>
                  <a:txBody>
                    <a:bodyPr/>
                    <a:lstStyle/>
                    <a:p>
                      <a:r>
                        <a:rPr sz="1875" b="0">
                          <a:solidFill>
                            <a:schemeClr val="lt1"/>
                          </a:solidFill>
                          <a:latin typeface="Arial"/>
                          <a:ea typeface="Arial"/>
                          <a:cs typeface="Arial"/>
                        </a:rPr>
                        <a:t>SiYuan</a:t>
                      </a:r>
                    </a:p>
                  </a:txBody>
                  <a:tcPr marL="133350" marR="133350" marT="76200" marB="57150">
                    <a:solidFill>
                      <a:schemeClr val="dk1"/>
                    </a:solidFill>
                  </a:tcPr>
                </a:tc>
                <a:tc>
                  <a:txBody>
                    <a:bodyPr/>
                    <a:lstStyle/>
                    <a:p>
                      <a:r>
                        <a:rPr sz="1875" b="0">
                          <a:solidFill>
                            <a:schemeClr val="lt1"/>
                          </a:solidFill>
                          <a:latin typeface="Arial"/>
                          <a:ea typeface="Arial"/>
                          <a:cs typeface="Arial"/>
                        </a:rPr>
                        <a:t>64</a:t>
                      </a:r>
                    </a:p>
                  </a:txBody>
                  <a:tcPr marL="133350" marR="133350" marT="76200" marB="57150">
                    <a:solidFill>
                      <a:schemeClr val="dk1"/>
                    </a:solidFill>
                  </a:tcPr>
                </a:tc>
                <a:tc>
                  <a:txBody>
                    <a:bodyPr/>
                    <a:lstStyle/>
                    <a:p>
                      <a:r>
                        <a:rPr sz="1875" b="0">
                          <a:solidFill>
                            <a:schemeClr val="lt1"/>
                          </a:solidFill>
                          <a:latin typeface="Arial"/>
                          <a:ea typeface="Arial"/>
                          <a:cs typeface="Arial"/>
                        </a:rPr>
                        <a:t>62</a:t>
                      </a:r>
                    </a:p>
                  </a:txBody>
                  <a:tcPr marL="133350" marR="133350" marT="76200" marB="57150">
                    <a:solidFill>
                      <a:schemeClr val="dk1"/>
                    </a:solidFill>
                  </a:tcPr>
                </a:tc>
                <a:tc>
                  <a:txBody>
                    <a:bodyPr/>
                    <a:lstStyle/>
                    <a:p>
                      <a:r>
                        <a:rPr sz="1875" b="0">
                          <a:solidFill>
                            <a:schemeClr val="lt1"/>
                          </a:solidFill>
                          <a:latin typeface="Arial"/>
                          <a:ea typeface="Arial"/>
                          <a:cs typeface="Arial"/>
                        </a:rPr>
                        <a:t>40</a:t>
                      </a:r>
                    </a:p>
                  </a:txBody>
                  <a:tcPr marL="133350" marR="133350" marT="76200" marB="57150">
                    <a:solidFill>
                      <a:schemeClr val="dk1"/>
                    </a:solidFill>
                  </a:tcPr>
                </a:tc>
                <a:extLst>
                  <a:ext uri="{0D108BD9-81ED-4DB2-BD59-A6C34878D82A}">
                    <a16:rowId xmlns:a16="http://schemas.microsoft.com/office/drawing/2014/main" val="10002"/>
                  </a:ext>
                </a:extLst>
              </a:tr>
              <a:tr h="742950">
                <a:tc>
                  <a:txBody>
                    <a:bodyPr/>
                    <a:lstStyle/>
                    <a:p>
                      <a:r>
                        <a:rPr sz="1875" b="0">
                          <a:solidFill>
                            <a:schemeClr val="lt1"/>
                          </a:solidFill>
                          <a:latin typeface="Arial"/>
                          <a:ea typeface="Arial"/>
                          <a:cs typeface="Arial"/>
                        </a:rPr>
                        <a:t>Typora</a:t>
                      </a:r>
                    </a:p>
                  </a:txBody>
                  <a:tcPr marL="133350" marR="133350" marT="76200" marB="57150">
                    <a:solidFill>
                      <a:schemeClr val="dk1"/>
                    </a:solidFill>
                  </a:tcPr>
                </a:tc>
                <a:tc>
                  <a:txBody>
                    <a:bodyPr/>
                    <a:lstStyle/>
                    <a:p>
                      <a:r>
                        <a:rPr sz="1875" b="0">
                          <a:solidFill>
                            <a:schemeClr val="lt1"/>
                          </a:solidFill>
                          <a:latin typeface="Arial"/>
                          <a:ea typeface="Arial"/>
                          <a:cs typeface="Arial"/>
                        </a:rPr>
                        <a:t>40</a:t>
                      </a:r>
                    </a:p>
                  </a:txBody>
                  <a:tcPr marL="133350" marR="133350" marT="76200" marB="57150">
                    <a:solidFill>
                      <a:schemeClr val="dk1"/>
                    </a:solidFill>
                  </a:tcPr>
                </a:tc>
                <a:tc>
                  <a:txBody>
                    <a:bodyPr/>
                    <a:lstStyle/>
                    <a:p>
                      <a:r>
                        <a:rPr sz="1875" b="0">
                          <a:solidFill>
                            <a:schemeClr val="lt1"/>
                          </a:solidFill>
                          <a:latin typeface="Arial"/>
                          <a:ea typeface="Arial"/>
                          <a:cs typeface="Arial"/>
                        </a:rPr>
                        <a:t>40</a:t>
                      </a:r>
                    </a:p>
                  </a:txBody>
                  <a:tcPr marL="133350" marR="133350" marT="76200" marB="57150">
                    <a:solidFill>
                      <a:schemeClr val="dk1"/>
                    </a:solidFill>
                  </a:tcPr>
                </a:tc>
                <a:tc>
                  <a:txBody>
                    <a:bodyPr/>
                    <a:lstStyle/>
                    <a:p>
                      <a:r>
                        <a:rPr sz="1875" b="0">
                          <a:solidFill>
                            <a:schemeClr val="lt1"/>
                          </a:solidFill>
                          <a:latin typeface="Arial"/>
                          <a:ea typeface="Arial"/>
                          <a:cs typeface="Arial"/>
                        </a:rPr>
                        <a:t>36</a:t>
                      </a:r>
                    </a:p>
                  </a:txBody>
                  <a:tcPr marL="133350" marR="133350" marT="76200" marB="57150">
                    <a:solidFill>
                      <a:schemeClr val="dk1"/>
                    </a:solidFill>
                  </a:tcPr>
                </a:tc>
                <a:extLst>
                  <a:ext uri="{0D108BD9-81ED-4DB2-BD59-A6C34878D82A}">
                    <a16:rowId xmlns:a16="http://schemas.microsoft.com/office/drawing/2014/main" val="10003"/>
                  </a:ext>
                </a:extLst>
              </a:tr>
              <a:tr h="742950">
                <a:tc>
                  <a:txBody>
                    <a:bodyPr/>
                    <a:lstStyle/>
                    <a:p>
                      <a:r>
                        <a:rPr sz="1875" b="0">
                          <a:solidFill>
                            <a:schemeClr val="lt1"/>
                          </a:solidFill>
                          <a:latin typeface="Arial"/>
                          <a:ea typeface="Arial"/>
                          <a:cs typeface="Arial"/>
                        </a:rPr>
                        <a:t>PowerPoint</a:t>
                      </a:r>
                    </a:p>
                  </a:txBody>
                  <a:tcPr marL="133350" marR="133350" marT="76200" marB="57150">
                    <a:solidFill>
                      <a:schemeClr val="dk1"/>
                    </a:solidFill>
                  </a:tcPr>
                </a:tc>
                <a:tc>
                  <a:txBody>
                    <a:bodyPr/>
                    <a:lstStyle/>
                    <a:p>
                      <a:r>
                        <a:rPr sz="1875" b="0">
                          <a:solidFill>
                            <a:schemeClr val="lt1"/>
                          </a:solidFill>
                          <a:latin typeface="Arial"/>
                          <a:ea typeface="Arial"/>
                          <a:cs typeface="Arial"/>
                        </a:rPr>
                        <a:t>24</a:t>
                      </a:r>
                    </a:p>
                  </a:txBody>
                  <a:tcPr marL="133350" marR="133350" marT="76200" marB="57150">
                    <a:solidFill>
                      <a:schemeClr val="dk1"/>
                    </a:solidFill>
                  </a:tcPr>
                </a:tc>
                <a:tc>
                  <a:txBody>
                    <a:bodyPr/>
                    <a:lstStyle/>
                    <a:p>
                      <a:r>
                        <a:rPr sz="1875" b="0">
                          <a:solidFill>
                            <a:schemeClr val="lt1"/>
                          </a:solidFill>
                          <a:latin typeface="Arial"/>
                          <a:ea typeface="Arial"/>
                          <a:cs typeface="Arial"/>
                        </a:rPr>
                        <a:t>22</a:t>
                      </a:r>
                    </a:p>
                  </a:txBody>
                  <a:tcPr marL="133350" marR="133350" marT="76200" marB="57150">
                    <a:solidFill>
                      <a:schemeClr val="dk1"/>
                    </a:solidFill>
                  </a:tcPr>
                </a:tc>
                <a:tc>
                  <a:txBody>
                    <a:bodyPr/>
                    <a:lstStyle/>
                    <a:p>
                      <a:r>
                        <a:rPr sz="1875" b="0">
                          <a:solidFill>
                            <a:schemeClr val="lt1"/>
                          </a:solidFill>
                          <a:latin typeface="Arial"/>
                          <a:ea typeface="Arial"/>
                          <a:cs typeface="Arial"/>
                        </a:rPr>
                        <a:t>18</a:t>
                      </a:r>
                    </a:p>
                  </a:txBody>
                  <a:tcPr marL="133350" marR="133350" marT="76200" marB="57150">
                    <a:solidFill>
                      <a:schemeClr val="dk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79CEC547-33FE-490B-933A-970294656379}"/>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00DA278D-3BE7-45C7-93E9-7307346E2182}"/>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457613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3916277-6C51-4EED-BD83-B91B264DFAD9}"/>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AA3E2011-0665-43F9-B354-B904DB94C860}"/>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16 / 24</a:t>
            </a:r>
          </a:p>
        </p:txBody>
      </p:sp>
      <p:sp>
        <p:nvSpPr>
          <p:cNvPr id="3" name="Rectangle 2">
            <a:extLst>
              <a:ext uri="{FF2B5EF4-FFF2-40B4-BE49-F238E27FC236}">
                <a16:creationId xmlns:a16="http://schemas.microsoft.com/office/drawing/2014/main" id="{04446C72-CCCE-4CC4-9BA5-D68BF881F671}"/>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Terminal reduction protects identity</a:t>
            </a:r>
          </a:p>
        </p:txBody>
      </p:sp>
      <p:sp>
        <p:nvSpPr>
          <p:cNvPr id="4" name="Rectangle 3">
            <a:extLst>
              <a:ext uri="{FF2B5EF4-FFF2-40B4-BE49-F238E27FC236}">
                <a16:creationId xmlns:a16="http://schemas.microsoft.com/office/drawing/2014/main" id="{B11FFFB6-FC9E-48CD-8ED5-E580B38E604F}"/>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 small vocabulary must support both meaning and readable text.</a:t>
            </a:r>
          </a:p>
        </p:txBody>
      </p:sp>
      <p:sp>
        <p:nvSpPr>
          <p:cNvPr id="5" name="Rectangle 4">
            <a:extLst>
              <a:ext uri="{FF2B5EF4-FFF2-40B4-BE49-F238E27FC236}">
                <a16:creationId xmlns:a16="http://schemas.microsoft.com/office/drawing/2014/main" id="{71D70C69-E892-4E02-AB46-7CB3B6CF6088}"/>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Protect required roles</a:t>
            </a:r>
          </a:p>
        </p:txBody>
      </p:sp>
      <p:sp>
        <p:nvSpPr>
          <p:cNvPr id="6" name="Rectangle 5">
            <a:extLst>
              <a:ext uri="{FF2B5EF4-FFF2-40B4-BE49-F238E27FC236}">
                <a16:creationId xmlns:a16="http://schemas.microsoft.com/office/drawing/2014/main" id="{0ABEF29B-4291-4FE4-9889-3AE3EF4B74AB}"/>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Background, foreground, cursor, selection and the 16 ANSI slots.</a:t>
            </a:r>
          </a:p>
        </p:txBody>
      </p:sp>
      <p:sp>
        <p:nvSpPr>
          <p:cNvPr id="7" name="Rectangle 6">
            <a:extLst>
              <a:ext uri="{FF2B5EF4-FFF2-40B4-BE49-F238E27FC236}">
                <a16:creationId xmlns:a16="http://schemas.microsoft.com/office/drawing/2014/main" id="{872279D8-F11F-40B2-8BCB-5933B1FFC2BC}"/>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Carry the image into text</a:t>
            </a:r>
          </a:p>
        </p:txBody>
      </p:sp>
      <p:sp>
        <p:nvSpPr>
          <p:cNvPr id="8" name="Rectangle 7">
            <a:extLst>
              <a:ext uri="{FF2B5EF4-FFF2-40B4-BE49-F238E27FC236}">
                <a16:creationId xmlns:a16="http://schemas.microsoft.com/office/drawing/2014/main" id="{8003FEB0-B4B8-416B-811F-2B67BABAF09F}"/>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Retain visible gold and cool cyan/blue relationships through adaptation.</a:t>
            </a:r>
          </a:p>
        </p:txBody>
      </p:sp>
      <p:sp>
        <p:nvSpPr>
          <p:cNvPr id="9" name="Rectangle 8">
            <a:extLst>
              <a:ext uri="{FF2B5EF4-FFF2-40B4-BE49-F238E27FC236}">
                <a16:creationId xmlns:a16="http://schemas.microsoft.com/office/drawing/2014/main" id="{51805A6B-A9B1-495C-A6C1-FBD65B362954}"/>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Expose compromise</a:t>
            </a:r>
          </a:p>
        </p:txBody>
      </p:sp>
      <p:sp>
        <p:nvSpPr>
          <p:cNvPr id="10" name="Rectangle 9">
            <a:extLst>
              <a:ext uri="{FF2B5EF4-FFF2-40B4-BE49-F238E27FC236}">
                <a16:creationId xmlns:a16="http://schemas.microsoft.com/office/drawing/2014/main" id="{429BCF62-2416-44F3-A6E1-B08767FE90EB}"/>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Report missing conventional hues, reused colors and actual contrast pairs.</a:t>
            </a:r>
          </a:p>
        </p:txBody>
      </p:sp>
      <p:sp>
        <p:nvSpPr>
          <p:cNvPr id="11" name="Rectangle 10">
            <a:extLst>
              <a:ext uri="{FF2B5EF4-FFF2-40B4-BE49-F238E27FC236}">
                <a16:creationId xmlns:a16="http://schemas.microsoft.com/office/drawing/2014/main" id="{35CAF3EE-F9A8-4487-BF21-5C2A6C920E92}"/>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885252D0-A3A9-4A30-8C91-F87D1AC89F52}"/>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4302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A88D7F2-51A7-49F9-A9BC-FF7D0F2D9B9C}"/>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741D7F05-8A2B-4C83-B7E9-A4DA58396F0C}"/>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17 / 24</a:t>
            </a:r>
          </a:p>
        </p:txBody>
      </p:sp>
      <p:sp>
        <p:nvSpPr>
          <p:cNvPr id="3" name="Rectangle 2">
            <a:extLst>
              <a:ext uri="{FF2B5EF4-FFF2-40B4-BE49-F238E27FC236}">
                <a16:creationId xmlns:a16="http://schemas.microsoft.com/office/drawing/2014/main" id="{CE4EA07E-37AD-4AFA-A73B-E794EFEB6371}"/>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Editors need content and state coverage</a:t>
            </a:r>
          </a:p>
        </p:txBody>
      </p:sp>
      <p:sp>
        <p:nvSpPr>
          <p:cNvPr id="4" name="Rectangle 3">
            <a:extLst>
              <a:ext uri="{FF2B5EF4-FFF2-40B4-BE49-F238E27FC236}">
                <a16:creationId xmlns:a16="http://schemas.microsoft.com/office/drawing/2014/main" id="{2685FDB2-86FC-430C-A807-A5AF73EB9412}"/>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SiYuan and Typora require more than a page background and link color.</a:t>
            </a:r>
          </a:p>
        </p:txBody>
      </p:sp>
      <p:graphicFrame>
        <p:nvGraphicFramePr>
          <p:cNvPr id="5" name="Table 4">
            <a:extLst>
              <a:ext uri="{FF2B5EF4-FFF2-40B4-BE49-F238E27FC236}">
                <a16:creationId xmlns:a16="http://schemas.microsoft.com/office/drawing/2014/main" id="{007E127D-658A-4C49-A169-AC90ABF6C522}"/>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619125">
                <a:tc>
                  <a:txBody>
                    <a:bodyPr/>
                    <a:lstStyle/>
                    <a:p>
                      <a:r>
                        <a:rPr sz="1875" b="1">
                          <a:solidFill>
                            <a:schemeClr val="accent1"/>
                          </a:solidFill>
                          <a:latin typeface="Arial"/>
                          <a:ea typeface="Arial"/>
                          <a:cs typeface="Arial"/>
                        </a:rPr>
                        <a:t>Area</a:t>
                      </a:r>
                    </a:p>
                  </a:txBody>
                  <a:tcPr marL="133350" marR="133350" marT="76200" marB="57150">
                    <a:solidFill>
                      <a:schemeClr val="dk2"/>
                    </a:solidFill>
                  </a:tcPr>
                </a:tc>
                <a:tc>
                  <a:txBody>
                    <a:bodyPr/>
                    <a:lstStyle/>
                    <a:p>
                      <a:r>
                        <a:rPr sz="1875" b="1">
                          <a:solidFill>
                            <a:schemeClr val="accent1"/>
                          </a:solidFill>
                          <a:latin typeface="Arial"/>
                          <a:ea typeface="Arial"/>
                          <a:cs typeface="Arial"/>
                        </a:rPr>
                        <a:t>What must hold together</a:t>
                      </a:r>
                    </a:p>
                  </a:txBody>
                  <a:tcPr marL="133350" marR="133350" marT="76200" marB="57150">
                    <a:solidFill>
                      <a:schemeClr val="dk2"/>
                    </a:solidFill>
                  </a:tcPr>
                </a:tc>
                <a:extLst>
                  <a:ext uri="{0D108BD9-81ED-4DB2-BD59-A6C34878D82A}">
                    <a16:rowId xmlns:a16="http://schemas.microsoft.com/office/drawing/2014/main" val="10000"/>
                  </a:ext>
                </a:extLst>
              </a:tr>
              <a:tr h="619125">
                <a:tc>
                  <a:txBody>
                    <a:bodyPr/>
                    <a:lstStyle/>
                    <a:p>
                      <a:r>
                        <a:rPr sz="1875" b="0">
                          <a:solidFill>
                            <a:schemeClr val="lt1"/>
                          </a:solidFill>
                          <a:latin typeface="Arial"/>
                          <a:ea typeface="Arial"/>
                          <a:cs typeface="Arial"/>
                        </a:rPr>
                        <a:t>Document</a:t>
                      </a:r>
                    </a:p>
                  </a:txBody>
                  <a:tcPr marL="133350" marR="133350" marT="76200" marB="57150">
                    <a:solidFill>
                      <a:schemeClr val="dk1"/>
                    </a:solidFill>
                  </a:tcPr>
                </a:tc>
                <a:tc>
                  <a:txBody>
                    <a:bodyPr/>
                    <a:lstStyle/>
                    <a:p>
                      <a:r>
                        <a:rPr sz="1875" b="0">
                          <a:solidFill>
                            <a:schemeClr val="lt1"/>
                          </a:solidFill>
                          <a:latin typeface="Arial"/>
                          <a:ea typeface="Arial"/>
                          <a:cs typeface="Arial"/>
                        </a:rPr>
                        <a:t>Body text, headings, links, quotes, tables</a:t>
                      </a:r>
                    </a:p>
                  </a:txBody>
                  <a:tcPr marL="133350" marR="133350" marT="76200" marB="57150">
                    <a:solidFill>
                      <a:schemeClr val="dk1"/>
                    </a:solidFill>
                  </a:tcPr>
                </a:tc>
                <a:extLst>
                  <a:ext uri="{0D108BD9-81ED-4DB2-BD59-A6C34878D82A}">
                    <a16:rowId xmlns:a16="http://schemas.microsoft.com/office/drawing/2014/main" val="10001"/>
                  </a:ext>
                </a:extLst>
              </a:tr>
              <a:tr h="619125">
                <a:tc>
                  <a:txBody>
                    <a:bodyPr/>
                    <a:lstStyle/>
                    <a:p>
                      <a:r>
                        <a:rPr sz="1875" b="0">
                          <a:solidFill>
                            <a:schemeClr val="lt1"/>
                          </a:solidFill>
                          <a:latin typeface="Arial"/>
                          <a:ea typeface="Arial"/>
                          <a:cs typeface="Arial"/>
                        </a:rPr>
                        <a:t>Code</a:t>
                      </a:r>
                    </a:p>
                  </a:txBody>
                  <a:tcPr marL="133350" marR="133350" marT="76200" marB="57150">
                    <a:solidFill>
                      <a:schemeClr val="dk1"/>
                    </a:solidFill>
                  </a:tcPr>
                </a:tc>
                <a:tc>
                  <a:txBody>
                    <a:bodyPr/>
                    <a:lstStyle/>
                    <a:p>
                      <a:r>
                        <a:rPr sz="1875" b="0">
                          <a:solidFill>
                            <a:schemeClr val="lt1"/>
                          </a:solidFill>
                          <a:latin typeface="Arial"/>
                          <a:ea typeface="Arial"/>
                          <a:cs typeface="Arial"/>
                        </a:rPr>
                        <a:t>Inline code, blocks and syntax roles</a:t>
                      </a:r>
                    </a:p>
                  </a:txBody>
                  <a:tcPr marL="133350" marR="133350" marT="76200" marB="57150">
                    <a:solidFill>
                      <a:schemeClr val="dk1"/>
                    </a:solidFill>
                  </a:tcPr>
                </a:tc>
                <a:extLst>
                  <a:ext uri="{0D108BD9-81ED-4DB2-BD59-A6C34878D82A}">
                    <a16:rowId xmlns:a16="http://schemas.microsoft.com/office/drawing/2014/main" val="10002"/>
                  </a:ext>
                </a:extLst>
              </a:tr>
              <a:tr h="619125">
                <a:tc>
                  <a:txBody>
                    <a:bodyPr/>
                    <a:lstStyle/>
                    <a:p>
                      <a:r>
                        <a:rPr sz="1875" b="0">
                          <a:solidFill>
                            <a:schemeClr val="lt1"/>
                          </a:solidFill>
                          <a:latin typeface="Arial"/>
                          <a:ea typeface="Arial"/>
                          <a:cs typeface="Arial"/>
                        </a:rPr>
                        <a:t>Navigation</a:t>
                      </a:r>
                    </a:p>
                  </a:txBody>
                  <a:tcPr marL="133350" marR="133350" marT="76200" marB="57150">
                    <a:solidFill>
                      <a:schemeClr val="dk1"/>
                    </a:solidFill>
                  </a:tcPr>
                </a:tc>
                <a:tc>
                  <a:txBody>
                    <a:bodyPr/>
                    <a:lstStyle/>
                    <a:p>
                      <a:r>
                        <a:rPr sz="1875" b="0">
                          <a:solidFill>
                            <a:schemeClr val="lt1"/>
                          </a:solidFill>
                          <a:latin typeface="Arial"/>
                          <a:ea typeface="Arial"/>
                          <a:cs typeface="Arial"/>
                        </a:rPr>
                        <a:t>Sidebar, muted text and active items</a:t>
                      </a:r>
                    </a:p>
                  </a:txBody>
                  <a:tcPr marL="133350" marR="133350" marT="76200" marB="57150">
                    <a:solidFill>
                      <a:schemeClr val="dk1"/>
                    </a:solidFill>
                  </a:tcPr>
                </a:tc>
                <a:extLst>
                  <a:ext uri="{0D108BD9-81ED-4DB2-BD59-A6C34878D82A}">
                    <a16:rowId xmlns:a16="http://schemas.microsoft.com/office/drawing/2014/main" val="10003"/>
                  </a:ext>
                </a:extLst>
              </a:tr>
              <a:tr h="619125">
                <a:tc>
                  <a:txBody>
                    <a:bodyPr/>
                    <a:lstStyle/>
                    <a:p>
                      <a:r>
                        <a:rPr sz="1875" b="0">
                          <a:solidFill>
                            <a:schemeClr val="lt1"/>
                          </a:solidFill>
                          <a:latin typeface="Arial"/>
                          <a:ea typeface="Arial"/>
                          <a:cs typeface="Arial"/>
                        </a:rPr>
                        <a:t>Interaction</a:t>
                      </a:r>
                    </a:p>
                  </a:txBody>
                  <a:tcPr marL="133350" marR="133350" marT="76200" marB="57150">
                    <a:solidFill>
                      <a:schemeClr val="dk1"/>
                    </a:solidFill>
                  </a:tcPr>
                </a:tc>
                <a:tc>
                  <a:txBody>
                    <a:bodyPr/>
                    <a:lstStyle/>
                    <a:p>
                      <a:r>
                        <a:rPr sz="1875" b="0">
                          <a:solidFill>
                            <a:schemeClr val="lt1"/>
                          </a:solidFill>
                          <a:latin typeface="Arial"/>
                          <a:ea typeface="Arial"/>
                          <a:cs typeface="Arial"/>
                        </a:rPr>
                        <a:t>Selection, focus, hover and common states</a:t>
                      </a:r>
                    </a:p>
                  </a:txBody>
                  <a:tcPr marL="133350" marR="133350" marT="76200" marB="57150">
                    <a:solidFill>
                      <a:schemeClr val="dk1"/>
                    </a:solidFill>
                  </a:tcPr>
                </a:tc>
                <a:extLst>
                  <a:ext uri="{0D108BD9-81ED-4DB2-BD59-A6C34878D82A}">
                    <a16:rowId xmlns:a16="http://schemas.microsoft.com/office/drawing/2014/main" val="10004"/>
                  </a:ext>
                </a:extLst>
              </a:tr>
              <a:tr h="619125">
                <a:tc>
                  <a:txBody>
                    <a:bodyPr/>
                    <a:lstStyle/>
                    <a:p>
                      <a:r>
                        <a:rPr sz="1875" b="0">
                          <a:solidFill>
                            <a:schemeClr val="lt1"/>
                          </a:solidFill>
                          <a:latin typeface="Arial"/>
                          <a:ea typeface="Arial"/>
                          <a:cs typeface="Arial"/>
                        </a:rPr>
                        <a:t>Delivery</a:t>
                      </a:r>
                    </a:p>
                  </a:txBody>
                  <a:tcPr marL="133350" marR="133350" marT="76200" marB="57150">
                    <a:solidFill>
                      <a:schemeClr val="dk1"/>
                    </a:solidFill>
                  </a:tcPr>
                </a:tc>
                <a:tc>
                  <a:txBody>
                    <a:bodyPr/>
                    <a:lstStyle/>
                    <a:p>
                      <a:r>
                        <a:rPr sz="1875" b="0">
                          <a:solidFill>
                            <a:schemeClr val="lt1"/>
                          </a:solidFill>
                          <a:latin typeface="Arial"/>
                          <a:ea typeface="Arial"/>
                          <a:cs typeface="Arial"/>
                        </a:rPr>
                        <a:t>Target CSS scopes; SiYuan package assets and metadata</a:t>
                      </a:r>
                    </a:p>
                  </a:txBody>
                  <a:tcPr marL="133350" marR="133350" marT="76200" marB="57150">
                    <a:solidFill>
                      <a:schemeClr val="dk1"/>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3AFEF992-8B22-4BE5-92DD-3A2F6EC64D56}"/>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3952B6BD-D61E-4612-BE7A-3597A43A4284}"/>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464639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EA69B29-452E-460D-9F5E-D601A5585032}"/>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4A8C3088-11E2-46E7-8C76-F679C3C1301F}"/>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18 / 24</a:t>
            </a:r>
          </a:p>
        </p:txBody>
      </p:sp>
      <p:sp>
        <p:nvSpPr>
          <p:cNvPr id="3" name="Rectangle 2">
            <a:extLst>
              <a:ext uri="{FF2B5EF4-FFF2-40B4-BE49-F238E27FC236}">
                <a16:creationId xmlns:a16="http://schemas.microsoft.com/office/drawing/2014/main" id="{B027A933-C41A-4A39-9C29-6B231A5BED00}"/>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PowerPoint: color theme and editable proof</a:t>
            </a:r>
          </a:p>
        </p:txBody>
      </p:sp>
      <p:sp>
        <p:nvSpPr>
          <p:cNvPr id="4" name="Rectangle 3">
            <a:extLst>
              <a:ext uri="{FF2B5EF4-FFF2-40B4-BE49-F238E27FC236}">
                <a16:creationId xmlns:a16="http://schemas.microsoft.com/office/drawing/2014/main" id="{F9087AB2-6BE2-4D94-AC1A-DA433962216D}"/>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Twelve native slots become a reusable visual vocabulary.</a:t>
            </a:r>
          </a:p>
        </p:txBody>
      </p:sp>
      <p:sp>
        <p:nvSpPr>
          <p:cNvPr id="5" name="Rectangle 4">
            <a:extLst>
              <a:ext uri="{FF2B5EF4-FFF2-40B4-BE49-F238E27FC236}">
                <a16:creationId xmlns:a16="http://schemas.microsoft.com/office/drawing/2014/main" id="{46017E4C-1DF7-487E-8492-B9654CF138F6}"/>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The pipeline sample</a:t>
            </a:r>
          </a:p>
        </p:txBody>
      </p:sp>
      <p:sp>
        <p:nvSpPr>
          <p:cNvPr id="6" name="Rectangle 5">
            <a:extLst>
              <a:ext uri="{FF2B5EF4-FFF2-40B4-BE49-F238E27FC236}">
                <a16:creationId xmlns:a16="http://schemas.microsoft.com/office/drawing/2014/main" id="{BA4AC6FB-F6F7-4F6B-B6BF-6EB05C4B1581}"/>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Four editable slides: title, content, Office slots and a native chart.</a:t>
            </a:r>
          </a:p>
        </p:txBody>
      </p:sp>
      <p:sp>
        <p:nvSpPr>
          <p:cNvPr id="7" name="Rectangle 6">
            <a:extLst>
              <a:ext uri="{FF2B5EF4-FFF2-40B4-BE49-F238E27FC236}">
                <a16:creationId xmlns:a16="http://schemas.microsoft.com/office/drawing/2014/main" id="{05E02795-F000-42DF-AEF5-6CF75043AA19}"/>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This overview</a:t>
            </a:r>
          </a:p>
        </p:txBody>
      </p:sp>
      <p:sp>
        <p:nvSpPr>
          <p:cNvPr id="8" name="Rectangle 7">
            <a:extLst>
              <a:ext uri="{FF2B5EF4-FFF2-40B4-BE49-F238E27FC236}">
                <a16:creationId xmlns:a16="http://schemas.microsoft.com/office/drawing/2014/main" id="{361A8D93-62F8-4E3B-BCE3-94BCD6E72A29}"/>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The same Black-Gold slots, Arial and canvas applied to project content.</a:t>
            </a:r>
          </a:p>
        </p:txBody>
      </p:sp>
      <p:sp>
        <p:nvSpPr>
          <p:cNvPr id="9" name="Rectangle 8">
            <a:extLst>
              <a:ext uri="{FF2B5EF4-FFF2-40B4-BE49-F238E27FC236}">
                <a16:creationId xmlns:a16="http://schemas.microsoft.com/office/drawing/2014/main" id="{420B4CD7-0B54-4BF1-B8AB-A31F365B101F}"/>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Compatibility lesson</a:t>
            </a:r>
          </a:p>
        </p:txBody>
      </p:sp>
      <p:sp>
        <p:nvSpPr>
          <p:cNvPr id="10" name="Rectangle 9">
            <a:extLst>
              <a:ext uri="{FF2B5EF4-FFF2-40B4-BE49-F238E27FC236}">
                <a16:creationId xmlns:a16="http://schemas.microsoft.com/office/drawing/2014/main" id="{15907EF9-2A9C-41F2-81D7-B9EB53BEB7BA}"/>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XML can parse while QName-valued metadata still breaks PowerPoint.</a:t>
            </a:r>
          </a:p>
        </p:txBody>
      </p:sp>
      <p:sp>
        <p:nvSpPr>
          <p:cNvPr id="11" name="Rectangle 10">
            <a:extLst>
              <a:ext uri="{FF2B5EF4-FFF2-40B4-BE49-F238E27FC236}">
                <a16:creationId xmlns:a16="http://schemas.microsoft.com/office/drawing/2014/main" id="{319B7F49-ECC7-43ED-B1BA-9F9DA7AFE1F4}"/>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0528477E-4066-4BA4-8C84-83AA13BF1642}"/>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640731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13DF5F-ADFC-4910-BB72-7A9F26541723}"/>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353A46F9-8F30-4A27-AFAA-A84437B987CC}"/>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19 / 24</a:t>
            </a:r>
          </a:p>
        </p:txBody>
      </p:sp>
      <p:sp>
        <p:nvSpPr>
          <p:cNvPr id="3" name="Rectangle 2">
            <a:extLst>
              <a:ext uri="{FF2B5EF4-FFF2-40B4-BE49-F238E27FC236}">
                <a16:creationId xmlns:a16="http://schemas.microsoft.com/office/drawing/2014/main" id="{DAC31C71-2DEA-4795-A7FA-2A47CAB237CC}"/>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The run leaves a reviewable trail</a:t>
            </a:r>
          </a:p>
        </p:txBody>
      </p:sp>
      <p:sp>
        <p:nvSpPr>
          <p:cNvPr id="4" name="Rectangle 3">
            <a:extLst>
              <a:ext uri="{FF2B5EF4-FFF2-40B4-BE49-F238E27FC236}">
                <a16:creationId xmlns:a16="http://schemas.microsoft.com/office/drawing/2014/main" id="{FFED38C4-7AFC-4070-9975-9E5AF7A8619E}"/>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A complete output directory explains where its colors came from.</a:t>
            </a:r>
          </a:p>
        </p:txBody>
      </p:sp>
      <p:graphicFrame>
        <p:nvGraphicFramePr>
          <p:cNvPr id="5" name="Table 4">
            <a:extLst>
              <a:ext uri="{FF2B5EF4-FFF2-40B4-BE49-F238E27FC236}">
                <a16:creationId xmlns:a16="http://schemas.microsoft.com/office/drawing/2014/main" id="{CA67FAAA-B313-4B73-8AB9-C9C27E8B8C69}"/>
              </a:ext>
            </a:extLst>
          </p:cNvPr>
          <p:cNvGraphicFramePr/>
          <p:nvPr/>
        </p:nvGraphicFramePr>
        <p:xfrm>
          <a:off x="609600" y="2114550"/>
          <a:ext cx="10972800" cy="3714750"/>
        </p:xfrm>
        <a:graphic>
          <a:graphicData uri="http://schemas.openxmlformats.org/drawingml/2006/table">
            <a:tbl>
              <a:tblPr/>
              <a:tblGrid>
                <a:gridCol w="3905250">
                  <a:extLst>
                    <a:ext uri="{9D8B030D-6E8A-4147-A177-3AD203B41FA5}">
                      <a16:colId xmlns:a16="http://schemas.microsoft.com/office/drawing/2014/main" val="20000"/>
                    </a:ext>
                  </a:extLst>
                </a:gridCol>
                <a:gridCol w="7067550">
                  <a:extLst>
                    <a:ext uri="{9D8B030D-6E8A-4147-A177-3AD203B41FA5}">
                      <a16:colId xmlns:a16="http://schemas.microsoft.com/office/drawing/2014/main" val="20001"/>
                    </a:ext>
                  </a:extLst>
                </a:gridCol>
              </a:tblGrid>
              <a:tr h="619125">
                <a:tc>
                  <a:txBody>
                    <a:bodyPr/>
                    <a:lstStyle/>
                    <a:p>
                      <a:r>
                        <a:rPr sz="1875" b="1">
                          <a:solidFill>
                            <a:schemeClr val="accent1"/>
                          </a:solidFill>
                          <a:latin typeface="Arial"/>
                          <a:ea typeface="Arial"/>
                          <a:cs typeface="Arial"/>
                        </a:rPr>
                        <a:t>Artifact</a:t>
                      </a:r>
                    </a:p>
                  </a:txBody>
                  <a:tcPr marL="133350" marR="133350" marT="76200" marB="57150">
                    <a:solidFill>
                      <a:schemeClr val="dk2"/>
                    </a:solidFill>
                  </a:tcPr>
                </a:tc>
                <a:tc>
                  <a:txBody>
                    <a:bodyPr/>
                    <a:lstStyle/>
                    <a:p>
                      <a:r>
                        <a:rPr sz="1875" b="1">
                          <a:solidFill>
                            <a:schemeClr val="accent1"/>
                          </a:solidFill>
                          <a:latin typeface="Arial"/>
                          <a:ea typeface="Arial"/>
                          <a:cs typeface="Arial"/>
                        </a:rPr>
                        <a:t>Purpose</a:t>
                      </a:r>
                    </a:p>
                  </a:txBody>
                  <a:tcPr marL="133350" marR="133350" marT="76200" marB="57150">
                    <a:solidFill>
                      <a:schemeClr val="dk2"/>
                    </a:solidFill>
                  </a:tcPr>
                </a:tc>
                <a:extLst>
                  <a:ext uri="{0D108BD9-81ED-4DB2-BD59-A6C34878D82A}">
                    <a16:rowId xmlns:a16="http://schemas.microsoft.com/office/drawing/2014/main" val="10000"/>
                  </a:ext>
                </a:extLst>
              </a:tr>
              <a:tr h="619125">
                <a:tc>
                  <a:txBody>
                    <a:bodyPr/>
                    <a:lstStyle/>
                    <a:p>
                      <a:r>
                        <a:rPr sz="1875" b="0">
                          <a:solidFill>
                            <a:schemeClr val="lt1"/>
                          </a:solidFill>
                          <a:latin typeface="Arial"/>
                          <a:ea typeface="Arial"/>
                          <a:cs typeface="Arial"/>
                        </a:rPr>
                        <a:t>source/ + provenance.json</a:t>
                      </a:r>
                    </a:p>
                  </a:txBody>
                  <a:tcPr marL="133350" marR="133350" marT="76200" marB="57150">
                    <a:solidFill>
                      <a:schemeClr val="dk1"/>
                    </a:solidFill>
                  </a:tcPr>
                </a:tc>
                <a:tc>
                  <a:txBody>
                    <a:bodyPr/>
                    <a:lstStyle/>
                    <a:p>
                      <a:r>
                        <a:rPr sz="1875" b="0">
                          <a:solidFill>
                            <a:schemeClr val="lt1"/>
                          </a:solidFill>
                          <a:latin typeface="Arial"/>
                          <a:ea typeface="Arial"/>
                          <a:cs typeface="Arial"/>
                        </a:rPr>
                        <a:t>Original image bytes, hash and decoding provenance</a:t>
                      </a:r>
                    </a:p>
                  </a:txBody>
                  <a:tcPr marL="133350" marR="133350" marT="76200" marB="57150">
                    <a:solidFill>
                      <a:schemeClr val="dk1"/>
                    </a:solidFill>
                  </a:tcPr>
                </a:tc>
                <a:extLst>
                  <a:ext uri="{0D108BD9-81ED-4DB2-BD59-A6C34878D82A}">
                    <a16:rowId xmlns:a16="http://schemas.microsoft.com/office/drawing/2014/main" val="10001"/>
                  </a:ext>
                </a:extLst>
              </a:tr>
              <a:tr h="619125">
                <a:tc>
                  <a:txBody>
                    <a:bodyPr/>
                    <a:lstStyle/>
                    <a:p>
                      <a:r>
                        <a:rPr sz="1875" b="0">
                          <a:solidFill>
                            <a:schemeClr val="lt1"/>
                          </a:solidFill>
                          <a:latin typeface="Arial"/>
                          <a:ea typeface="Arial"/>
                          <a:cs typeface="Arial"/>
                        </a:rPr>
                        <a:t>Candidates / selection</a:t>
                      </a:r>
                    </a:p>
                  </a:txBody>
                  <a:tcPr marL="133350" marR="133350" marT="76200" marB="57150">
                    <a:solidFill>
                      <a:schemeClr val="dk1"/>
                    </a:solidFill>
                  </a:tcPr>
                </a:tc>
                <a:tc>
                  <a:txBody>
                    <a:bodyPr/>
                    <a:lstStyle/>
                    <a:p>
                      <a:r>
                        <a:rPr sz="1875" b="0">
                          <a:solidFill>
                            <a:schemeClr val="lt1"/>
                          </a:solidFill>
                          <a:latin typeface="Arial"/>
                          <a:ea typeface="Arial"/>
                          <a:cs typeface="Arial"/>
                        </a:rPr>
                        <a:t>Representatives and selection diagnostics</a:t>
                      </a:r>
                    </a:p>
                  </a:txBody>
                  <a:tcPr marL="133350" marR="133350" marT="76200" marB="57150">
                    <a:solidFill>
                      <a:schemeClr val="dk1"/>
                    </a:solidFill>
                  </a:tcPr>
                </a:tc>
                <a:extLst>
                  <a:ext uri="{0D108BD9-81ED-4DB2-BD59-A6C34878D82A}">
                    <a16:rowId xmlns:a16="http://schemas.microsoft.com/office/drawing/2014/main" val="10002"/>
                  </a:ext>
                </a:extLst>
              </a:tr>
              <a:tr h="619125">
                <a:tc>
                  <a:txBody>
                    <a:bodyPr/>
                    <a:lstStyle/>
                    <a:p>
                      <a:r>
                        <a:rPr sz="1875" b="0">
                          <a:solidFill>
                            <a:schemeClr val="lt1"/>
                          </a:solidFill>
                          <a:latin typeface="Arial"/>
                          <a:ea typeface="Arial"/>
                          <a:cs typeface="Arial"/>
                        </a:rPr>
                        <a:t>palette.toml / txt / css / png</a:t>
                      </a:r>
                    </a:p>
                  </a:txBody>
                  <a:tcPr marL="133350" marR="133350" marT="76200" marB="57150">
                    <a:solidFill>
                      <a:schemeClr val="dk1"/>
                    </a:solidFill>
                  </a:tcPr>
                </a:tc>
                <a:tc>
                  <a:txBody>
                    <a:bodyPr/>
                    <a:lstStyle/>
                    <a:p>
                      <a:r>
                        <a:rPr sz="1875" b="0">
                          <a:solidFill>
                            <a:schemeClr val="lt1"/>
                          </a:solidFill>
                          <a:latin typeface="Arial"/>
                          <a:ea typeface="Arial"/>
                          <a:cs typeface="Arial"/>
                        </a:rPr>
                        <a:t>Exactly 32 canonical colors in reusable forms</a:t>
                      </a:r>
                    </a:p>
                  </a:txBody>
                  <a:tcPr marL="133350" marR="133350" marT="76200" marB="57150">
                    <a:solidFill>
                      <a:schemeClr val="dk1"/>
                    </a:solidFill>
                  </a:tcPr>
                </a:tc>
                <a:extLst>
                  <a:ext uri="{0D108BD9-81ED-4DB2-BD59-A6C34878D82A}">
                    <a16:rowId xmlns:a16="http://schemas.microsoft.com/office/drawing/2014/main" val="10003"/>
                  </a:ext>
                </a:extLst>
              </a:tr>
              <a:tr h="619125">
                <a:tc>
                  <a:txBody>
                    <a:bodyPr/>
                    <a:lstStyle/>
                    <a:p>
                      <a:r>
                        <a:rPr sz="1875" b="0">
                          <a:solidFill>
                            <a:schemeClr val="lt1"/>
                          </a:solidFill>
                          <a:latin typeface="Arial"/>
                          <a:ea typeface="Arial"/>
                          <a:cs typeface="Arial"/>
                        </a:rPr>
                        <a:t>semantics.json / tokens.json</a:t>
                      </a:r>
                    </a:p>
                  </a:txBody>
                  <a:tcPr marL="133350" marR="133350" marT="76200" marB="57150">
                    <a:solidFill>
                      <a:schemeClr val="dk1"/>
                    </a:solidFill>
                  </a:tcPr>
                </a:tc>
                <a:tc>
                  <a:txBody>
                    <a:bodyPr/>
                    <a:lstStyle/>
                    <a:p>
                      <a:r>
                        <a:rPr sz="1875" b="0">
                          <a:solidFill>
                            <a:schemeClr val="lt1"/>
                          </a:solidFill>
                          <a:latin typeface="Arial"/>
                          <a:ea typeface="Arial"/>
                          <a:cs typeface="Arial"/>
                        </a:rPr>
                        <a:t>Roles, derivations, aliases and findings</a:t>
                      </a:r>
                    </a:p>
                  </a:txBody>
                  <a:tcPr marL="133350" marR="133350" marT="76200" marB="57150">
                    <a:solidFill>
                      <a:schemeClr val="dk1"/>
                    </a:solidFill>
                  </a:tcPr>
                </a:tc>
                <a:extLst>
                  <a:ext uri="{0D108BD9-81ED-4DB2-BD59-A6C34878D82A}">
                    <a16:rowId xmlns:a16="http://schemas.microsoft.com/office/drawing/2014/main" val="10004"/>
                  </a:ext>
                </a:extLst>
              </a:tr>
              <a:tr h="619125">
                <a:tc>
                  <a:txBody>
                    <a:bodyPr/>
                    <a:lstStyle/>
                    <a:p>
                      <a:r>
                        <a:rPr sz="1875" b="0">
                          <a:solidFill>
                            <a:schemeClr val="lt1"/>
                          </a:solidFill>
                          <a:latin typeface="Arial"/>
                          <a:ea typeface="Arial"/>
                          <a:cs typeface="Arial"/>
                        </a:rPr>
                        <a:t>validation.json / review.html</a:t>
                      </a:r>
                    </a:p>
                  </a:txBody>
                  <a:tcPr marL="133350" marR="133350" marT="76200" marB="57150">
                    <a:solidFill>
                      <a:schemeClr val="dk1"/>
                    </a:solidFill>
                  </a:tcPr>
                </a:tc>
                <a:tc>
                  <a:txBody>
                    <a:bodyPr/>
                    <a:lstStyle/>
                    <a:p>
                      <a:r>
                        <a:rPr sz="1875" b="0">
                          <a:solidFill>
                            <a:schemeClr val="lt1"/>
                          </a:solidFill>
                          <a:latin typeface="Arial"/>
                          <a:ea typeface="Arial"/>
                          <a:cs typeface="Arial"/>
                        </a:rPr>
                        <a:t>Checks and a self-contained visual review</a:t>
                      </a:r>
                    </a:p>
                  </a:txBody>
                  <a:tcPr marL="133350" marR="133350" marT="76200" marB="57150">
                    <a:solidFill>
                      <a:schemeClr val="dk1"/>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9404E151-89DB-4D0F-B9A3-D83073A54676}"/>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B3637A59-F4D5-4D86-BB92-8DE078CB35FD}"/>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134443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9E1268-34E4-4C0E-A010-BA4F309A5B70}"/>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7E2DCECE-1F46-4A25-ABCF-7894DAC41E0B}"/>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20 / 24</a:t>
            </a:r>
          </a:p>
        </p:txBody>
      </p:sp>
      <p:sp>
        <p:nvSpPr>
          <p:cNvPr id="3" name="Rectangle 2">
            <a:extLst>
              <a:ext uri="{FF2B5EF4-FFF2-40B4-BE49-F238E27FC236}">
                <a16:creationId xmlns:a16="http://schemas.microsoft.com/office/drawing/2014/main" id="{C3ADA014-921E-4623-B89A-A0A43D34A9E7}"/>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The command contract keeps runs bounded</a:t>
            </a:r>
          </a:p>
        </p:txBody>
      </p:sp>
      <p:sp>
        <p:nvSpPr>
          <p:cNvPr id="4" name="Rectangle 3">
            <a:extLst>
              <a:ext uri="{FF2B5EF4-FFF2-40B4-BE49-F238E27FC236}">
                <a16:creationId xmlns:a16="http://schemas.microsoft.com/office/drawing/2014/main" id="{578DF3B6-F653-4ED4-B726-89B1FEE63431}"/>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Generate and import are local, reviewable operations.</a:t>
            </a:r>
          </a:p>
        </p:txBody>
      </p:sp>
      <p:sp>
        <p:nvSpPr>
          <p:cNvPr id="5" name="Rectangle 4">
            <a:extLst>
              <a:ext uri="{FF2B5EF4-FFF2-40B4-BE49-F238E27FC236}">
                <a16:creationId xmlns:a16="http://schemas.microsoft.com/office/drawing/2014/main" id="{6AA026D9-E245-434E-8AE6-06B7BC7D357F}"/>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Generate</a:t>
            </a:r>
          </a:p>
        </p:txBody>
      </p:sp>
      <p:sp>
        <p:nvSpPr>
          <p:cNvPr id="6" name="Rectangle 5">
            <a:extLst>
              <a:ext uri="{FF2B5EF4-FFF2-40B4-BE49-F238E27FC236}">
                <a16:creationId xmlns:a16="http://schemas.microsoft.com/office/drawing/2014/main" id="{E9E74F6D-E0CD-486C-B51E-F3E597F2E273}"/>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apt-theme generate IMAGE --output DIRECTORY</a:t>
            </a:r>
          </a:p>
        </p:txBody>
      </p:sp>
      <p:sp>
        <p:nvSpPr>
          <p:cNvPr id="7" name="Rectangle 6">
            <a:extLst>
              <a:ext uri="{FF2B5EF4-FFF2-40B4-BE49-F238E27FC236}">
                <a16:creationId xmlns:a16="http://schemas.microsoft.com/office/drawing/2014/main" id="{F6456467-E194-44FB-AB4C-D3DFF9EF0DF7}"/>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Import and configure</a:t>
            </a:r>
          </a:p>
        </p:txBody>
      </p:sp>
      <p:sp>
        <p:nvSpPr>
          <p:cNvPr id="8" name="Rectangle 7">
            <a:extLst>
              <a:ext uri="{FF2B5EF4-FFF2-40B4-BE49-F238E27FC236}">
                <a16:creationId xmlns:a16="http://schemas.microsoft.com/office/drawing/2014/main" id="{4128B7C7-B783-43B8-818C-7628A0FFEBF3}"/>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Import exactly 32 colors; choose targets, TOML settings and semantic overrides.</a:t>
            </a:r>
          </a:p>
        </p:txBody>
      </p:sp>
      <p:sp>
        <p:nvSpPr>
          <p:cNvPr id="9" name="Rectangle 8">
            <a:extLst>
              <a:ext uri="{FF2B5EF4-FFF2-40B4-BE49-F238E27FC236}">
                <a16:creationId xmlns:a16="http://schemas.microsoft.com/office/drawing/2014/main" id="{2257C7D0-08F5-468C-93FC-58BE028802CA}"/>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Complete with findings</a:t>
            </a:r>
          </a:p>
        </p:txBody>
      </p:sp>
      <p:sp>
        <p:nvSpPr>
          <p:cNvPr id="10" name="Rectangle 9">
            <a:extLst>
              <a:ext uri="{FF2B5EF4-FFF2-40B4-BE49-F238E27FC236}">
                <a16:creationId xmlns:a16="http://schemas.microsoft.com/office/drawing/2014/main" id="{C6CD7477-B912-4F2F-B688-BF212E20F5D3}"/>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0: completed · 1: processing failure · 2: strict contrast failure / invalid syntax</a:t>
            </a:r>
          </a:p>
        </p:txBody>
      </p:sp>
      <p:sp>
        <p:nvSpPr>
          <p:cNvPr id="11" name="Rectangle 10">
            <a:extLst>
              <a:ext uri="{FF2B5EF4-FFF2-40B4-BE49-F238E27FC236}">
                <a16:creationId xmlns:a16="http://schemas.microsoft.com/office/drawing/2014/main" id="{AC663574-969A-4272-879E-286D26B98F11}"/>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007A2AD9-4DC4-43D1-A68D-882D1FBA5247}"/>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297152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D2C246-9A25-4F0E-BABD-F8D953ADF866}"/>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9D430755-DE57-4055-89C0-BC0828D26FC6}"/>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21 / 24</a:t>
            </a:r>
          </a:p>
        </p:txBody>
      </p:sp>
      <p:sp>
        <p:nvSpPr>
          <p:cNvPr id="3" name="Rectangle 2">
            <a:extLst>
              <a:ext uri="{FF2B5EF4-FFF2-40B4-BE49-F238E27FC236}">
                <a16:creationId xmlns:a16="http://schemas.microsoft.com/office/drawing/2014/main" id="{1D4EAF6A-8B1F-46EE-B0DC-F9C51BB4DE2C}"/>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Related utilities stay independently callable</a:t>
            </a:r>
          </a:p>
        </p:txBody>
      </p:sp>
      <p:sp>
        <p:nvSpPr>
          <p:cNvPr id="4" name="Rectangle 3">
            <a:extLst>
              <a:ext uri="{FF2B5EF4-FFF2-40B4-BE49-F238E27FC236}">
                <a16:creationId xmlns:a16="http://schemas.microsoft.com/office/drawing/2014/main" id="{AD923E5D-5E5E-42A1-A877-A01490CE7702}"/>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Theme generation, conversion and metadata embedding have different jobs.</a:t>
            </a:r>
          </a:p>
        </p:txBody>
      </p:sp>
      <p:graphicFrame>
        <p:nvGraphicFramePr>
          <p:cNvPr id="5" name="Table 4">
            <a:extLst>
              <a:ext uri="{FF2B5EF4-FFF2-40B4-BE49-F238E27FC236}">
                <a16:creationId xmlns:a16="http://schemas.microsoft.com/office/drawing/2014/main" id="{734D49FF-E23A-4594-9962-050AFB285508}"/>
              </a:ext>
            </a:extLst>
          </p:cNvPr>
          <p:cNvGraphicFramePr/>
          <p:nvPr/>
        </p:nvGraphicFramePr>
        <p:xfrm>
          <a:off x="609600" y="2114550"/>
          <a:ext cx="10972800" cy="3714750"/>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742950">
                <a:tc>
                  <a:txBody>
                    <a:bodyPr/>
                    <a:lstStyle/>
                    <a:p>
                      <a:r>
                        <a:rPr sz="1875" b="1">
                          <a:solidFill>
                            <a:schemeClr val="accent1"/>
                          </a:solidFill>
                          <a:latin typeface="Arial"/>
                          <a:ea typeface="Arial"/>
                          <a:cs typeface="Arial"/>
                        </a:rPr>
                        <a:t>Utility</a:t>
                      </a:r>
                    </a:p>
                  </a:txBody>
                  <a:tcPr marL="133350" marR="133350" marT="76200" marB="57150">
                    <a:solidFill>
                      <a:schemeClr val="dk2"/>
                    </a:solidFill>
                  </a:tcPr>
                </a:tc>
                <a:tc>
                  <a:txBody>
                    <a:bodyPr/>
                    <a:lstStyle/>
                    <a:p>
                      <a:r>
                        <a:rPr sz="1875" b="1">
                          <a:solidFill>
                            <a:schemeClr val="accent1"/>
                          </a:solidFill>
                          <a:latin typeface="Arial"/>
                          <a:ea typeface="Arial"/>
                          <a:cs typeface="Arial"/>
                        </a:rPr>
                        <a:t>Preserved behavior</a:t>
                      </a:r>
                    </a:p>
                  </a:txBody>
                  <a:tcPr marL="133350" marR="133350" marT="76200" marB="57150">
                    <a:solidFill>
                      <a:schemeClr val="dk2"/>
                    </a:solidFill>
                  </a:tcPr>
                </a:tc>
                <a:extLst>
                  <a:ext uri="{0D108BD9-81ED-4DB2-BD59-A6C34878D82A}">
                    <a16:rowId xmlns:a16="http://schemas.microsoft.com/office/drawing/2014/main" val="10000"/>
                  </a:ext>
                </a:extLst>
              </a:tr>
              <a:tr h="742950">
                <a:tc>
                  <a:txBody>
                    <a:bodyPr/>
                    <a:lstStyle/>
                    <a:p>
                      <a:r>
                        <a:rPr sz="1875" b="0">
                          <a:solidFill>
                            <a:schemeClr val="lt1"/>
                          </a:solidFill>
                          <a:latin typeface="Arial"/>
                          <a:ea typeface="Arial"/>
                          <a:cs typeface="Arial"/>
                        </a:rPr>
                        <a:t>ICO converter</a:t>
                      </a:r>
                    </a:p>
                  </a:txBody>
                  <a:tcPr marL="133350" marR="133350" marT="76200" marB="57150">
                    <a:solidFill>
                      <a:schemeClr val="dk1"/>
                    </a:solidFill>
                  </a:tcPr>
                </a:tc>
                <a:tc>
                  <a:txBody>
                    <a:bodyPr/>
                    <a:lstStyle/>
                    <a:p>
                      <a:r>
                        <a:rPr sz="1875" b="0">
                          <a:solidFill>
                            <a:schemeClr val="lt1"/>
                          </a:solidFill>
                          <a:latin typeface="Arial"/>
                          <a:ea typeface="Arial"/>
                          <a:cs typeface="Arial"/>
                        </a:rPr>
                        <a:t>ImageMagick multi-frame icon conversion</a:t>
                      </a:r>
                    </a:p>
                  </a:txBody>
                  <a:tcPr marL="133350" marR="133350" marT="76200" marB="57150">
                    <a:solidFill>
                      <a:schemeClr val="dk1"/>
                    </a:solidFill>
                  </a:tcPr>
                </a:tc>
                <a:extLst>
                  <a:ext uri="{0D108BD9-81ED-4DB2-BD59-A6C34878D82A}">
                    <a16:rowId xmlns:a16="http://schemas.microsoft.com/office/drawing/2014/main" val="10001"/>
                  </a:ext>
                </a:extLst>
              </a:tr>
              <a:tr h="742950">
                <a:tc>
                  <a:txBody>
                    <a:bodyPr/>
                    <a:lstStyle/>
                    <a:p>
                      <a:r>
                        <a:rPr sz="1875" b="0">
                          <a:solidFill>
                            <a:schemeClr val="lt1"/>
                          </a:solidFill>
                          <a:latin typeface="Arial"/>
                          <a:ea typeface="Arial"/>
                          <a:cs typeface="Arial"/>
                        </a:rPr>
                        <a:t>SVG converter</a:t>
                      </a:r>
                    </a:p>
                  </a:txBody>
                  <a:tcPr marL="133350" marR="133350" marT="76200" marB="57150">
                    <a:solidFill>
                      <a:schemeClr val="dk1"/>
                    </a:solidFill>
                  </a:tcPr>
                </a:tc>
                <a:tc>
                  <a:txBody>
                    <a:bodyPr/>
                    <a:lstStyle/>
                    <a:p>
                      <a:r>
                        <a:rPr sz="1875" b="0">
                          <a:solidFill>
                            <a:schemeClr val="lt1"/>
                          </a:solidFill>
                          <a:latin typeface="Arial"/>
                          <a:ea typeface="Arial"/>
                          <a:cs typeface="Arial"/>
                        </a:rPr>
                        <a:t>Embedded raster by default; explicit VTracer tracing</a:t>
                      </a:r>
                    </a:p>
                  </a:txBody>
                  <a:tcPr marL="133350" marR="133350" marT="76200" marB="57150">
                    <a:solidFill>
                      <a:schemeClr val="dk1"/>
                    </a:solidFill>
                  </a:tcPr>
                </a:tc>
                <a:extLst>
                  <a:ext uri="{0D108BD9-81ED-4DB2-BD59-A6C34878D82A}">
                    <a16:rowId xmlns:a16="http://schemas.microsoft.com/office/drawing/2014/main" val="10002"/>
                  </a:ext>
                </a:extLst>
              </a:tr>
              <a:tr h="742950">
                <a:tc>
                  <a:txBody>
                    <a:bodyPr/>
                    <a:lstStyle/>
                    <a:p>
                      <a:r>
                        <a:rPr sz="1875" b="0">
                          <a:solidFill>
                            <a:schemeClr val="lt1"/>
                          </a:solidFill>
                          <a:latin typeface="Arial"/>
                          <a:ea typeface="Arial"/>
                          <a:cs typeface="Arial"/>
                        </a:rPr>
                        <a:t>Atlas</a:t>
                      </a:r>
                    </a:p>
                  </a:txBody>
                  <a:tcPr marL="133350" marR="133350" marT="76200" marB="57150">
                    <a:solidFill>
                      <a:schemeClr val="dk1"/>
                    </a:solidFill>
                  </a:tcPr>
                </a:tc>
                <a:tc>
                  <a:txBody>
                    <a:bodyPr/>
                    <a:lstStyle/>
                    <a:p>
                      <a:r>
                        <a:rPr sz="1875" b="0">
                          <a:solidFill>
                            <a:schemeClr val="lt1"/>
                          </a:solidFill>
                          <a:latin typeface="Arial"/>
                          <a:ea typeface="Arial"/>
                          <a:cs typeface="Arial"/>
                        </a:rPr>
                        <a:t>Artwork/catalog browsing and palette utility</a:t>
                      </a:r>
                    </a:p>
                  </a:txBody>
                  <a:tcPr marL="133350" marR="133350" marT="76200" marB="57150">
                    <a:solidFill>
                      <a:schemeClr val="dk1"/>
                    </a:solidFill>
                  </a:tcPr>
                </a:tc>
                <a:extLst>
                  <a:ext uri="{0D108BD9-81ED-4DB2-BD59-A6C34878D82A}">
                    <a16:rowId xmlns:a16="http://schemas.microsoft.com/office/drawing/2014/main" val="10003"/>
                  </a:ext>
                </a:extLst>
              </a:tr>
              <a:tr h="742950">
                <a:tc>
                  <a:txBody>
                    <a:bodyPr/>
                    <a:lstStyle/>
                    <a:p>
                      <a:r>
                        <a:rPr sz="1875" b="0">
                          <a:solidFill>
                            <a:schemeClr val="lt1"/>
                          </a:solidFill>
                          <a:latin typeface="Arial"/>
                          <a:ea typeface="Arial"/>
                          <a:cs typeface="Arial"/>
                        </a:rPr>
                        <a:t>SESM embedder</a:t>
                      </a:r>
                    </a:p>
                  </a:txBody>
                  <a:tcPr marL="133350" marR="133350" marT="76200" marB="57150">
                    <a:solidFill>
                      <a:schemeClr val="dk1"/>
                    </a:solidFill>
                  </a:tcPr>
                </a:tc>
                <a:tc>
                  <a:txBody>
                    <a:bodyPr/>
                    <a:lstStyle/>
                    <a:p>
                      <a:r>
                        <a:rPr sz="1875" b="0">
                          <a:solidFill>
                            <a:schemeClr val="lt1"/>
                          </a:solidFill>
                          <a:latin typeface="Arial"/>
                          <a:ea typeface="Arial"/>
                          <a:cs typeface="Arial"/>
                        </a:rPr>
                        <a:t>Preview by default; explicit write / replace and schema checks</a:t>
                      </a:r>
                    </a:p>
                  </a:txBody>
                  <a:tcPr marL="133350" marR="133350" marT="76200" marB="57150">
                    <a:solidFill>
                      <a:schemeClr val="dk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77D49D55-36AA-4E21-8B93-08D1C00FB67B}"/>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A7604821-9CC1-4BDF-903D-3D41992EE3A7}"/>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795133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57F0F72-2D39-4502-A83E-6AC08AB37977}"/>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7EDF9123-FEF4-4AD0-B3F7-189537208235}"/>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22 / 24</a:t>
            </a:r>
          </a:p>
        </p:txBody>
      </p:sp>
      <p:sp>
        <p:nvSpPr>
          <p:cNvPr id="3" name="Rectangle 2">
            <a:extLst>
              <a:ext uri="{FF2B5EF4-FFF2-40B4-BE49-F238E27FC236}">
                <a16:creationId xmlns:a16="http://schemas.microsoft.com/office/drawing/2014/main" id="{19AE9681-CD38-479C-825D-0F6ACA4668FC}"/>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Recovery is a deliverable</a:t>
            </a:r>
          </a:p>
        </p:txBody>
      </p:sp>
      <p:sp>
        <p:nvSpPr>
          <p:cNvPr id="4" name="Rectangle 3">
            <a:extLst>
              <a:ext uri="{FF2B5EF4-FFF2-40B4-BE49-F238E27FC236}">
                <a16:creationId xmlns:a16="http://schemas.microsoft.com/office/drawing/2014/main" id="{6CD8E482-8650-4D9B-B2F9-684727A4FF9A}"/>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Consolidation was gated on recoverability, not just copying files.</a:t>
            </a:r>
          </a:p>
        </p:txBody>
      </p:sp>
      <p:sp>
        <p:nvSpPr>
          <p:cNvPr id="5" name="Rectangle 4">
            <a:extLst>
              <a:ext uri="{FF2B5EF4-FFF2-40B4-BE49-F238E27FC236}">
                <a16:creationId xmlns:a16="http://schemas.microsoft.com/office/drawing/2014/main" id="{6FE24D97-E6AF-4CA6-9E21-186EA28832D7}"/>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Inventory and archive</a:t>
            </a:r>
          </a:p>
        </p:txBody>
      </p:sp>
      <p:sp>
        <p:nvSpPr>
          <p:cNvPr id="6" name="Rectangle 5">
            <a:extLst>
              <a:ext uri="{FF2B5EF4-FFF2-40B4-BE49-F238E27FC236}">
                <a16:creationId xmlns:a16="http://schemas.microsoft.com/office/drawing/2014/main" id="{12493BBE-76D8-4981-82A4-71BCF58B97C3}"/>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Hash source, assets, historical outputs, configuration and Git history.</a:t>
            </a:r>
          </a:p>
        </p:txBody>
      </p:sp>
      <p:sp>
        <p:nvSpPr>
          <p:cNvPr id="7" name="Rectangle 6">
            <a:extLst>
              <a:ext uri="{FF2B5EF4-FFF2-40B4-BE49-F238E27FC236}">
                <a16:creationId xmlns:a16="http://schemas.microsoft.com/office/drawing/2014/main" id="{3508C1F7-6727-41AD-86CE-1116F372CDFD}"/>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Verify destinations</a:t>
            </a:r>
          </a:p>
        </p:txBody>
      </p:sp>
      <p:sp>
        <p:nvSpPr>
          <p:cNvPr id="8" name="Rectangle 7">
            <a:extLst>
              <a:ext uri="{FF2B5EF4-FFF2-40B4-BE49-F238E27FC236}">
                <a16:creationId xmlns:a16="http://schemas.microsoft.com/office/drawing/2014/main" id="{10F6255C-319B-4E00-A750-CD2178236364}"/>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Check migrated tools, artwork bytes and restored archive content.</a:t>
            </a:r>
          </a:p>
        </p:txBody>
      </p:sp>
      <p:sp>
        <p:nvSpPr>
          <p:cNvPr id="9" name="Rectangle 8">
            <a:extLst>
              <a:ext uri="{FF2B5EF4-FFF2-40B4-BE49-F238E27FC236}">
                <a16:creationId xmlns:a16="http://schemas.microsoft.com/office/drawing/2014/main" id="{56E4D6B0-F4DD-4EA9-8B33-E350CF94558B}"/>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Retire only after gates</a:t>
            </a:r>
          </a:p>
        </p:txBody>
      </p:sp>
      <p:sp>
        <p:nvSpPr>
          <p:cNvPr id="10" name="Rectangle 9">
            <a:extLst>
              <a:ext uri="{FF2B5EF4-FFF2-40B4-BE49-F238E27FC236}">
                <a16:creationId xmlns:a16="http://schemas.microsoft.com/office/drawing/2014/main" id="{3CD8C4CF-7D91-449E-A3E4-16755B6D4ACF}"/>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Update references; check resolved paths and reject changed source inventories.</a:t>
            </a:r>
          </a:p>
        </p:txBody>
      </p:sp>
      <p:sp>
        <p:nvSpPr>
          <p:cNvPr id="11" name="Rectangle 10">
            <a:extLst>
              <a:ext uri="{FF2B5EF4-FFF2-40B4-BE49-F238E27FC236}">
                <a16:creationId xmlns:a16="http://schemas.microsoft.com/office/drawing/2014/main" id="{5246B7FC-4B08-4888-86A8-07CD57AD4D67}"/>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8119F558-96F2-4970-B5DE-87361ADD9A41}"/>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759688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0193C71-5430-4FF3-8D76-885D862DDA8E}"/>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863459F0-76F9-4ABF-8899-6964185C6671}"/>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23 / 24</a:t>
            </a:r>
          </a:p>
        </p:txBody>
      </p:sp>
      <p:sp>
        <p:nvSpPr>
          <p:cNvPr id="3" name="Rectangle 2">
            <a:extLst>
              <a:ext uri="{FF2B5EF4-FFF2-40B4-BE49-F238E27FC236}">
                <a16:creationId xmlns:a16="http://schemas.microsoft.com/office/drawing/2014/main" id="{F872E0C3-4BD2-4D39-9954-9A7F0F3D8C87}"/>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What the evidence establishes</a:t>
            </a:r>
          </a:p>
        </p:txBody>
      </p:sp>
      <p:sp>
        <p:nvSpPr>
          <p:cNvPr id="4" name="Rectangle 3">
            <a:extLst>
              <a:ext uri="{FF2B5EF4-FFF2-40B4-BE49-F238E27FC236}">
                <a16:creationId xmlns:a16="http://schemas.microsoft.com/office/drawing/2014/main" id="{B37D9866-164A-4566-B98F-A75AF5A47ACC}"/>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Structural success, native compatibility and aesthetic quality are separate gates.</a:t>
            </a:r>
          </a:p>
        </p:txBody>
      </p:sp>
      <p:graphicFrame>
        <p:nvGraphicFramePr>
          <p:cNvPr id="5" name="Table 4">
            <a:extLst>
              <a:ext uri="{FF2B5EF4-FFF2-40B4-BE49-F238E27FC236}">
                <a16:creationId xmlns:a16="http://schemas.microsoft.com/office/drawing/2014/main" id="{30AE1E1D-EB81-4319-8F01-13A1E0E873B4}"/>
              </a:ext>
            </a:extLst>
          </p:cNvPr>
          <p:cNvGraphicFramePr/>
          <p:nvPr/>
        </p:nvGraphicFramePr>
        <p:xfrm>
          <a:off x="609600" y="2114550"/>
          <a:ext cx="10972800" cy="3714750"/>
        </p:xfrm>
        <a:graphic>
          <a:graphicData uri="http://schemas.openxmlformats.org/drawingml/2006/table">
            <a:tbl>
              <a:tblPr/>
              <a:tblGrid>
                <a:gridCol w="4095750">
                  <a:extLst>
                    <a:ext uri="{9D8B030D-6E8A-4147-A177-3AD203B41FA5}">
                      <a16:colId xmlns:a16="http://schemas.microsoft.com/office/drawing/2014/main" val="20000"/>
                    </a:ext>
                  </a:extLst>
                </a:gridCol>
                <a:gridCol w="6877050">
                  <a:extLst>
                    <a:ext uri="{9D8B030D-6E8A-4147-A177-3AD203B41FA5}">
                      <a16:colId xmlns:a16="http://schemas.microsoft.com/office/drawing/2014/main" val="20001"/>
                    </a:ext>
                  </a:extLst>
                </a:gridCol>
              </a:tblGrid>
              <a:tr h="619125">
                <a:tc>
                  <a:txBody>
                    <a:bodyPr/>
                    <a:lstStyle/>
                    <a:p>
                      <a:r>
                        <a:rPr sz="1875" b="1">
                          <a:solidFill>
                            <a:schemeClr val="accent1"/>
                          </a:solidFill>
                          <a:latin typeface="Arial"/>
                          <a:ea typeface="Arial"/>
                          <a:cs typeface="Arial"/>
                        </a:rPr>
                        <a:t>Evidence</a:t>
                      </a:r>
                    </a:p>
                  </a:txBody>
                  <a:tcPr marL="133350" marR="133350" marT="76200" marB="57150">
                    <a:solidFill>
                      <a:schemeClr val="dk2"/>
                    </a:solidFill>
                  </a:tcPr>
                </a:tc>
                <a:tc>
                  <a:txBody>
                    <a:bodyPr/>
                    <a:lstStyle/>
                    <a:p>
                      <a:r>
                        <a:rPr sz="1875" b="1">
                          <a:solidFill>
                            <a:schemeClr val="accent1"/>
                          </a:solidFill>
                          <a:latin typeface="Arial"/>
                          <a:ea typeface="Arial"/>
                          <a:cs typeface="Arial"/>
                        </a:rPr>
                        <a:t>Limit</a:t>
                      </a:r>
                    </a:p>
                  </a:txBody>
                  <a:tcPr marL="133350" marR="133350" marT="76200" marB="57150">
                    <a:solidFill>
                      <a:schemeClr val="dk2"/>
                    </a:solidFill>
                  </a:tcPr>
                </a:tc>
                <a:extLst>
                  <a:ext uri="{0D108BD9-81ED-4DB2-BD59-A6C34878D82A}">
                    <a16:rowId xmlns:a16="http://schemas.microsoft.com/office/drawing/2014/main" val="10000"/>
                  </a:ext>
                </a:extLst>
              </a:tr>
              <a:tr h="619125">
                <a:tc>
                  <a:txBody>
                    <a:bodyPr/>
                    <a:lstStyle/>
                    <a:p>
                      <a:r>
                        <a:rPr sz="1875" b="0">
                          <a:solidFill>
                            <a:schemeClr val="lt1"/>
                          </a:solidFill>
                          <a:latin typeface="Arial"/>
                          <a:ea typeface="Arial"/>
                          <a:cs typeface="Arial"/>
                        </a:rPr>
                        <a:t>20 focused tests after repair</a:t>
                      </a:r>
                    </a:p>
                  </a:txBody>
                  <a:tcPr marL="133350" marR="133350" marT="76200" marB="57150">
                    <a:solidFill>
                      <a:schemeClr val="dk1"/>
                    </a:solidFill>
                  </a:tcPr>
                </a:tc>
                <a:tc>
                  <a:txBody>
                    <a:bodyPr/>
                    <a:lstStyle/>
                    <a:p>
                      <a:r>
                        <a:rPr sz="1875" b="0">
                          <a:solidFill>
                            <a:schemeClr val="lt1"/>
                          </a:solidFill>
                          <a:latin typeface="Arial"/>
                          <a:ea typeface="Arial"/>
                          <a:cs typeface="Arial"/>
                        </a:rPr>
                        <a:t>Dated engineering evidence, not a new run today</a:t>
                      </a:r>
                    </a:p>
                  </a:txBody>
                  <a:tcPr marL="133350" marR="133350" marT="76200" marB="57150">
                    <a:solidFill>
                      <a:schemeClr val="dk1"/>
                    </a:solidFill>
                  </a:tcPr>
                </a:tc>
                <a:extLst>
                  <a:ext uri="{0D108BD9-81ED-4DB2-BD59-A6C34878D82A}">
                    <a16:rowId xmlns:a16="http://schemas.microsoft.com/office/drawing/2014/main" val="10001"/>
                  </a:ext>
                </a:extLst>
              </a:tr>
              <a:tr h="619125">
                <a:tc>
                  <a:txBody>
                    <a:bodyPr/>
                    <a:lstStyle/>
                    <a:p>
                      <a:r>
                        <a:rPr sz="1875" b="0">
                          <a:solidFill>
                            <a:schemeClr val="lt1"/>
                          </a:solidFill>
                          <a:latin typeface="Arial"/>
                          <a:ea typeface="Arial"/>
                          <a:cs typeface="Arial"/>
                        </a:rPr>
                        <a:t>Black-Gold contrast checks</a:t>
                      </a:r>
                    </a:p>
                  </a:txBody>
                  <a:tcPr marL="133350" marR="133350" marT="76200" marB="57150">
                    <a:solidFill>
                      <a:schemeClr val="dk1"/>
                    </a:solidFill>
                  </a:tcPr>
                </a:tc>
                <a:tc>
                  <a:txBody>
                    <a:bodyPr/>
                    <a:lstStyle/>
                    <a:p>
                      <a:r>
                        <a:rPr sz="1875" b="0">
                          <a:solidFill>
                            <a:schemeClr val="lt1"/>
                          </a:solidFill>
                          <a:latin typeface="Arial"/>
                          <a:ea typeface="Arial"/>
                          <a:cs typeface="Arial"/>
                        </a:rPr>
                        <a:t>Only the combinations implemented in validation</a:t>
                      </a:r>
                    </a:p>
                  </a:txBody>
                  <a:tcPr marL="133350" marR="133350" marT="76200" marB="57150">
                    <a:solidFill>
                      <a:schemeClr val="dk1"/>
                    </a:solidFill>
                  </a:tcPr>
                </a:tc>
                <a:extLst>
                  <a:ext uri="{0D108BD9-81ED-4DB2-BD59-A6C34878D82A}">
                    <a16:rowId xmlns:a16="http://schemas.microsoft.com/office/drawing/2014/main" val="10002"/>
                  </a:ext>
                </a:extLst>
              </a:tr>
              <a:tr h="619125">
                <a:tc>
                  <a:txBody>
                    <a:bodyPr/>
                    <a:lstStyle/>
                    <a:p>
                      <a:r>
                        <a:rPr sz="1875" b="0">
                          <a:solidFill>
                            <a:schemeClr val="lt1"/>
                          </a:solidFill>
                          <a:latin typeface="Arial"/>
                          <a:ea typeface="Arial"/>
                          <a:cs typeface="Arial"/>
                        </a:rPr>
                        <a:t>PowerPoint no-repair opening</a:t>
                      </a:r>
                    </a:p>
                  </a:txBody>
                  <a:tcPr marL="133350" marR="133350" marT="76200" marB="57150">
                    <a:solidFill>
                      <a:schemeClr val="dk1"/>
                    </a:solidFill>
                  </a:tcPr>
                </a:tc>
                <a:tc>
                  <a:txBody>
                    <a:bodyPr/>
                    <a:lstStyle/>
                    <a:p>
                      <a:r>
                        <a:rPr sz="1875" b="0">
                          <a:solidFill>
                            <a:schemeClr val="lt1"/>
                          </a:solidFill>
                          <a:latin typeface="Arial"/>
                          <a:ea typeface="Arial"/>
                          <a:cs typeface="Arial"/>
                        </a:rPr>
                        <a:t>Opening/export differs from manual edit acceptance</a:t>
                      </a:r>
                    </a:p>
                  </a:txBody>
                  <a:tcPr marL="133350" marR="133350" marT="76200" marB="57150">
                    <a:solidFill>
                      <a:schemeClr val="dk1"/>
                    </a:solidFill>
                  </a:tcPr>
                </a:tc>
                <a:extLst>
                  <a:ext uri="{0D108BD9-81ED-4DB2-BD59-A6C34878D82A}">
                    <a16:rowId xmlns:a16="http://schemas.microsoft.com/office/drawing/2014/main" val="10003"/>
                  </a:ext>
                </a:extLst>
              </a:tr>
              <a:tr h="619125">
                <a:tc>
                  <a:txBody>
                    <a:bodyPr/>
                    <a:lstStyle/>
                    <a:p>
                      <a:r>
                        <a:rPr sz="1875" b="0">
                          <a:solidFill>
                            <a:schemeClr val="lt1"/>
                          </a:solidFill>
                          <a:latin typeface="Arial"/>
                          <a:ea typeface="Arial"/>
                          <a:cs typeface="Arial"/>
                        </a:rPr>
                        <a:t>Coverage and visual report</a:t>
                      </a:r>
                    </a:p>
                  </a:txBody>
                  <a:tcPr marL="133350" marR="133350" marT="76200" marB="57150">
                    <a:solidFill>
                      <a:schemeClr val="dk1"/>
                    </a:solidFill>
                  </a:tcPr>
                </a:tc>
                <a:tc>
                  <a:txBody>
                    <a:bodyPr/>
                    <a:lstStyle/>
                    <a:p>
                      <a:r>
                        <a:rPr sz="1875" b="0">
                          <a:solidFill>
                            <a:schemeClr val="lt1"/>
                          </a:solidFill>
                          <a:latin typeface="Arial"/>
                          <a:ea typeface="Arial"/>
                          <a:cs typeface="Arial"/>
                        </a:rPr>
                        <a:t>Diagnostics do not prove aesthetic quality</a:t>
                      </a:r>
                    </a:p>
                  </a:txBody>
                  <a:tcPr marL="133350" marR="133350" marT="76200" marB="57150">
                    <a:solidFill>
                      <a:schemeClr val="dk1"/>
                    </a:solidFill>
                  </a:tcPr>
                </a:tc>
                <a:extLst>
                  <a:ext uri="{0D108BD9-81ED-4DB2-BD59-A6C34878D82A}">
                    <a16:rowId xmlns:a16="http://schemas.microsoft.com/office/drawing/2014/main" val="10004"/>
                  </a:ext>
                </a:extLst>
              </a:tr>
              <a:tr h="619125">
                <a:tc>
                  <a:txBody>
                    <a:bodyPr/>
                    <a:lstStyle/>
                    <a:p>
                      <a:r>
                        <a:rPr sz="1875" b="0">
                          <a:solidFill>
                            <a:schemeClr val="lt1"/>
                          </a:solidFill>
                          <a:latin typeface="Arial"/>
                          <a:ea typeface="Arial"/>
                          <a:cs typeface="Arial"/>
                        </a:rPr>
                        <a:t>Other native / future targets</a:t>
                      </a:r>
                    </a:p>
                  </a:txBody>
                  <a:tcPr marL="133350" marR="133350" marT="76200" marB="57150">
                    <a:solidFill>
                      <a:schemeClr val="dk1"/>
                    </a:solidFill>
                  </a:tcPr>
                </a:tc>
                <a:tc>
                  <a:txBody>
                    <a:bodyPr/>
                    <a:lstStyle/>
                    <a:p>
                      <a:r>
                        <a:rPr sz="1875" b="0">
                          <a:solidFill>
                            <a:schemeClr val="lt1"/>
                          </a:solidFill>
                          <a:latin typeface="Arial"/>
                          <a:ea typeface="Arial"/>
                          <a:cs typeface="Arial"/>
                        </a:rPr>
                        <a:t>Live acceptance remains separately recorded</a:t>
                      </a:r>
                    </a:p>
                  </a:txBody>
                  <a:tcPr marL="133350" marR="133350" marT="76200" marB="57150">
                    <a:solidFill>
                      <a:schemeClr val="dk1"/>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0D0DE4F1-4744-40DC-9066-B81380517AA9}"/>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7" name="Rectangle 6">
            <a:extLst>
              <a:ext uri="{FF2B5EF4-FFF2-40B4-BE49-F238E27FC236}">
                <a16:creationId xmlns:a16="http://schemas.microsoft.com/office/drawing/2014/main" id="{A71DF5A5-EA3D-452C-AFBC-A886EA50715E}"/>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1090575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BE04544-4727-40EA-A2D5-C584438E0756}"/>
              </a:ext>
            </a:extLst>
          </p:cNvPr>
          <p:cNvSpPr>
            <a:spLocks noGrp="1"/>
          </p:cNvSpPr>
          <p:nvPr/>
        </p:nvSpPr>
        <p:spPr>
          <a:xfrm>
            <a:off x="609600" y="209550"/>
            <a:ext cx="857250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APTLANTIS  /  LOGOS AND THEMING</a:t>
            </a:r>
          </a:p>
        </p:txBody>
      </p:sp>
      <p:sp>
        <p:nvSpPr>
          <p:cNvPr id="2" name="Rectangle 1">
            <a:extLst>
              <a:ext uri="{FF2B5EF4-FFF2-40B4-BE49-F238E27FC236}">
                <a16:creationId xmlns:a16="http://schemas.microsoft.com/office/drawing/2014/main" id="{95A0B448-7AFC-4EFF-B85A-2759893913FD}"/>
              </a:ext>
            </a:extLst>
          </p:cNvPr>
          <p:cNvSpPr>
            <a:spLocks noGrp="1"/>
          </p:cNvSpPr>
          <p:nvPr/>
        </p:nvSpPr>
        <p:spPr>
          <a:xfrm>
            <a:off x="10572750" y="209550"/>
            <a:ext cx="1009650" cy="2857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24 / 24</a:t>
            </a:r>
          </a:p>
        </p:txBody>
      </p:sp>
      <p:sp>
        <p:nvSpPr>
          <p:cNvPr id="3" name="Rectangle 2">
            <a:extLst>
              <a:ext uri="{FF2B5EF4-FFF2-40B4-BE49-F238E27FC236}">
                <a16:creationId xmlns:a16="http://schemas.microsoft.com/office/drawing/2014/main" id="{F56D3BE8-5E6E-475C-A1D0-42B6B6C0B6C0}"/>
              </a:ext>
            </a:extLst>
          </p:cNvPr>
          <p:cNvSpPr>
            <a:spLocks noGrp="1"/>
          </p:cNvSpPr>
          <p:nvPr/>
        </p:nvSpPr>
        <p:spPr>
          <a:xfrm>
            <a:off x="609600" y="666750"/>
            <a:ext cx="10972800" cy="609600"/>
          </a:xfrm>
          <a:prstGeom prst="rect">
            <a:avLst/>
          </a:prstGeom>
          <a:noFill/>
          <a:ln w="0">
            <a:noFill/>
          </a:ln>
        </p:spPr>
        <p:txBody>
          <a:bodyPr/>
          <a:lstStyle>
            <a:defPPr>
              <a:defRPr sz="3150" b="1">
                <a:solidFill>
                  <a:schemeClr val="accent1"/>
                </a:solidFill>
                <a:latin typeface="Arial"/>
                <a:ea typeface="Arial"/>
                <a:cs typeface="Arial"/>
              </a:defRPr>
            </a:defPPr>
          </a:lstStyle>
          <a:p>
            <a:pPr>
              <a:defRPr sz="3150" b="1">
                <a:solidFill>
                  <a:schemeClr val="accent1"/>
                </a:solidFill>
                <a:latin typeface="Arial"/>
                <a:ea typeface="Arial"/>
                <a:cs typeface="Arial"/>
              </a:defRPr>
            </a:pPr>
            <a:r>
              <a:rPr sz="3150" b="1">
                <a:solidFill>
                  <a:schemeClr val="accent1"/>
                </a:solidFill>
                <a:latin typeface="Arial"/>
                <a:ea typeface="Arial"/>
                <a:cs typeface="Arial"/>
              </a:rPr>
              <a:t>A document suite, written in useful order</a:t>
            </a:r>
          </a:p>
        </p:txBody>
      </p:sp>
      <p:sp>
        <p:nvSpPr>
          <p:cNvPr id="4" name="Rectangle 3">
            <a:extLst>
              <a:ext uri="{FF2B5EF4-FFF2-40B4-BE49-F238E27FC236}">
                <a16:creationId xmlns:a16="http://schemas.microsoft.com/office/drawing/2014/main" id="{4F87B145-C9AD-4E7F-A2A3-EBA5995EBE9E}"/>
              </a:ext>
            </a:extLst>
          </p:cNvPr>
          <p:cNvSpPr>
            <a:spLocks noGrp="1"/>
          </p:cNvSpPr>
          <p:nvPr/>
        </p:nvSpPr>
        <p:spPr>
          <a:xfrm>
            <a:off x="609600" y="1362075"/>
            <a:ext cx="10972800" cy="628650"/>
          </a:xfrm>
          <a:prstGeom prst="rect">
            <a:avLst/>
          </a:prstGeom>
          <a:noFill/>
          <a:ln w="0">
            <a:noFill/>
          </a:ln>
        </p:spPr>
        <p:txBody>
          <a:bodyPr/>
          <a:lstStyle>
            <a:defPPr>
              <a:defRPr sz="2100" b="0">
                <a:solidFill>
                  <a:schemeClr val="accent2"/>
                </a:solidFill>
                <a:latin typeface="Arial"/>
                <a:ea typeface="Arial"/>
                <a:cs typeface="Arial"/>
              </a:defRPr>
            </a:defPPr>
          </a:lstStyle>
          <a:p>
            <a:pPr>
              <a:defRPr sz="2100" b="0">
                <a:solidFill>
                  <a:schemeClr val="accent2"/>
                </a:solidFill>
                <a:latin typeface="Arial"/>
                <a:ea typeface="Arial"/>
                <a:cs typeface="Arial"/>
              </a:defRPr>
            </a:pPr>
            <a:r>
              <a:rPr sz="2100" b="0">
                <a:solidFill>
                  <a:schemeClr val="accent2"/>
                </a:solidFill>
                <a:latin typeface="Arial"/>
                <a:ea typeface="Arial"/>
                <a:cs typeface="Arial"/>
              </a:rPr>
              <a:t>Keep this deck as the entry point; put depth in focused, source-backed volumes.</a:t>
            </a:r>
          </a:p>
        </p:txBody>
      </p:sp>
      <p:sp>
        <p:nvSpPr>
          <p:cNvPr id="5" name="Rectangle 4">
            <a:extLst>
              <a:ext uri="{FF2B5EF4-FFF2-40B4-BE49-F238E27FC236}">
                <a16:creationId xmlns:a16="http://schemas.microsoft.com/office/drawing/2014/main" id="{47E36C74-67C6-4C35-A684-B5781CA0B0E6}"/>
              </a:ext>
            </a:extLst>
          </p:cNvPr>
          <p:cNvSpPr>
            <a:spLocks noGrp="1"/>
          </p:cNvSpPr>
          <p:nvPr/>
        </p:nvSpPr>
        <p:spPr>
          <a:xfrm>
            <a:off x="609600" y="22383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First · operate and explain</a:t>
            </a:r>
          </a:p>
        </p:txBody>
      </p:sp>
      <p:sp>
        <p:nvSpPr>
          <p:cNvPr id="6" name="Rectangle 5">
            <a:extLst>
              <a:ext uri="{FF2B5EF4-FFF2-40B4-BE49-F238E27FC236}">
                <a16:creationId xmlns:a16="http://schemas.microsoft.com/office/drawing/2014/main" id="{D5FED31F-8247-44B1-90F1-9502DAAAFDEC}"/>
              </a:ext>
            </a:extLst>
          </p:cNvPr>
          <p:cNvSpPr>
            <a:spLocks noGrp="1"/>
          </p:cNvSpPr>
          <p:nvPr/>
        </p:nvSpPr>
        <p:spPr>
          <a:xfrm>
            <a:off x="609600" y="26955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Runbook, artifact reference and the two regression case studies.</a:t>
            </a:r>
          </a:p>
        </p:txBody>
      </p:sp>
      <p:sp>
        <p:nvSpPr>
          <p:cNvPr id="7" name="Rectangle 6">
            <a:extLst>
              <a:ext uri="{FF2B5EF4-FFF2-40B4-BE49-F238E27FC236}">
                <a16:creationId xmlns:a16="http://schemas.microsoft.com/office/drawing/2014/main" id="{0818B775-013C-409F-8E89-245ADE8AAA46}"/>
              </a:ext>
            </a:extLst>
          </p:cNvPr>
          <p:cNvSpPr>
            <a:spLocks noGrp="1"/>
          </p:cNvSpPr>
          <p:nvPr/>
        </p:nvSpPr>
        <p:spPr>
          <a:xfrm>
            <a:off x="609600" y="34956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Next · design and extend</a:t>
            </a:r>
          </a:p>
        </p:txBody>
      </p:sp>
      <p:sp>
        <p:nvSpPr>
          <p:cNvPr id="8" name="Rectangle 7">
            <a:extLst>
              <a:ext uri="{FF2B5EF4-FFF2-40B4-BE49-F238E27FC236}">
                <a16:creationId xmlns:a16="http://schemas.microsoft.com/office/drawing/2014/main" id="{C55B4931-C4DB-4376-807B-D7F83F611015}"/>
              </a:ext>
            </a:extLst>
          </p:cNvPr>
          <p:cNvSpPr>
            <a:spLocks noGrp="1"/>
          </p:cNvSpPr>
          <p:nvPr/>
        </p:nvSpPr>
        <p:spPr>
          <a:xfrm>
            <a:off x="609600" y="39528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Extraction methods, semantic mapping, adapter contracts and native acceptance.</a:t>
            </a:r>
          </a:p>
        </p:txBody>
      </p:sp>
      <p:sp>
        <p:nvSpPr>
          <p:cNvPr id="9" name="Rectangle 8">
            <a:extLst>
              <a:ext uri="{FF2B5EF4-FFF2-40B4-BE49-F238E27FC236}">
                <a16:creationId xmlns:a16="http://schemas.microsoft.com/office/drawing/2014/main" id="{8D584937-64D4-4948-AE63-0B86E53F139E}"/>
              </a:ext>
            </a:extLst>
          </p:cNvPr>
          <p:cNvSpPr>
            <a:spLocks noGrp="1"/>
          </p:cNvSpPr>
          <p:nvPr/>
        </p:nvSpPr>
        <p:spPr>
          <a:xfrm>
            <a:off x="609600" y="4752975"/>
            <a:ext cx="10477500" cy="400050"/>
          </a:xfrm>
          <a:prstGeom prst="rect">
            <a:avLst/>
          </a:prstGeom>
          <a:noFill/>
          <a:ln w="0">
            <a:noFill/>
          </a:ln>
        </p:spPr>
        <p:txBody>
          <a:bodyPr/>
          <a:lstStyle>
            <a:defPPr>
              <a:defRPr sz="2250" b="1">
                <a:solidFill>
                  <a:schemeClr val="accent1"/>
                </a:solidFill>
                <a:latin typeface="Arial"/>
                <a:ea typeface="Arial"/>
                <a:cs typeface="Arial"/>
              </a:defRPr>
            </a:defPPr>
          </a:lstStyle>
          <a:p>
            <a:pPr>
              <a:defRPr sz="2250" b="1">
                <a:solidFill>
                  <a:schemeClr val="accent1"/>
                </a:solidFill>
                <a:latin typeface="Arial"/>
                <a:ea typeface="Arial"/>
                <a:cs typeface="Arial"/>
              </a:defRPr>
            </a:pPr>
            <a:r>
              <a:rPr sz="2250" b="1">
                <a:solidFill>
                  <a:schemeClr val="accent1"/>
                </a:solidFill>
                <a:latin typeface="Arial"/>
                <a:ea typeface="Arial"/>
                <a:cs typeface="Arial"/>
              </a:rPr>
              <a:t>Then · preserve and integrate</a:t>
            </a:r>
          </a:p>
        </p:txBody>
      </p:sp>
      <p:sp>
        <p:nvSpPr>
          <p:cNvPr id="10" name="Rectangle 9">
            <a:extLst>
              <a:ext uri="{FF2B5EF4-FFF2-40B4-BE49-F238E27FC236}">
                <a16:creationId xmlns:a16="http://schemas.microsoft.com/office/drawing/2014/main" id="{24B2F867-8454-4A26-A509-7F3C8D4E3219}"/>
              </a:ext>
            </a:extLst>
          </p:cNvPr>
          <p:cNvSpPr>
            <a:spLocks noGrp="1"/>
          </p:cNvSpPr>
          <p:nvPr/>
        </p:nvSpPr>
        <p:spPr>
          <a:xfrm>
            <a:off x="609600" y="5210175"/>
            <a:ext cx="10477500" cy="704850"/>
          </a:xfrm>
          <a:prstGeom prst="rect">
            <a:avLst/>
          </a:prstGeom>
          <a:noFill/>
          <a:ln w="0">
            <a:noFill/>
          </a:ln>
        </p:spPr>
        <p:txBody>
          <a:bodyPr/>
          <a:lstStyle>
            <a:defPPr>
              <a:defRPr sz="2175" b="0">
                <a:solidFill>
                  <a:schemeClr val="lt1"/>
                </a:solidFill>
                <a:latin typeface="Arial"/>
                <a:ea typeface="Arial"/>
                <a:cs typeface="Arial"/>
              </a:defRPr>
            </a:defPPr>
          </a:lstStyle>
          <a:p>
            <a:pPr>
              <a:defRPr sz="2175" b="0">
                <a:solidFill>
                  <a:schemeClr val="lt1"/>
                </a:solidFill>
                <a:latin typeface="Arial"/>
                <a:ea typeface="Arial"/>
                <a:cs typeface="Arial"/>
              </a:defRPr>
            </a:pPr>
            <a:r>
              <a:rPr sz="2175" b="0">
                <a:solidFill>
                  <a:schemeClr val="lt1"/>
                </a:solidFill>
                <a:latin typeface="Arial"/>
                <a:ea typeface="Arial"/>
                <a:cs typeface="Arial"/>
              </a:rPr>
              <a:t>Asset lineage, SESM companion, recovery and the living handbook.</a:t>
            </a:r>
          </a:p>
        </p:txBody>
      </p:sp>
      <p:sp>
        <p:nvSpPr>
          <p:cNvPr id="11" name="Rectangle 10">
            <a:extLst>
              <a:ext uri="{FF2B5EF4-FFF2-40B4-BE49-F238E27FC236}">
                <a16:creationId xmlns:a16="http://schemas.microsoft.com/office/drawing/2014/main" id="{36039A3E-DCBC-4F19-836E-BC4A499E02B7}"/>
              </a:ext>
            </a:extLst>
          </p:cNvPr>
          <p:cNvSpPr>
            <a:spLocks noGrp="1"/>
          </p:cNvSpPr>
          <p:nvPr/>
        </p:nvSpPr>
        <p:spPr>
          <a:xfrm>
            <a:off x="609600" y="6419850"/>
            <a:ext cx="6191250"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LOCAL PILOT · 8 OCT 2026</a:t>
            </a:r>
          </a:p>
        </p:txBody>
      </p:sp>
      <p:sp>
        <p:nvSpPr>
          <p:cNvPr id="12" name="Rectangle 11">
            <a:extLst>
              <a:ext uri="{FF2B5EF4-FFF2-40B4-BE49-F238E27FC236}">
                <a16:creationId xmlns:a16="http://schemas.microsoft.com/office/drawing/2014/main" id="{446B9D11-1509-4F3D-97E6-8C7B9F2AED6F}"/>
              </a:ext>
            </a:extLst>
          </p:cNvPr>
          <p:cNvSpPr>
            <a:spLocks noGrp="1"/>
          </p:cNvSpPr>
          <p:nvPr/>
        </p:nvSpPr>
        <p:spPr>
          <a:xfrm>
            <a:off x="7572375" y="6419850"/>
            <a:ext cx="4010025" cy="247650"/>
          </a:xfrm>
          <a:prstGeom prst="rect">
            <a:avLst/>
          </a:prstGeom>
          <a:noFill/>
          <a:ln w="0">
            <a:noFill/>
          </a:ln>
        </p:spPr>
        <p:txBody>
          <a:bodyPr/>
          <a:lstStyle>
            <a:defPPr>
              <a:defRPr sz="1200" b="0">
                <a:solidFill>
                  <a:schemeClr val="accent2"/>
                </a:solidFill>
                <a:latin typeface="Arial"/>
                <a:ea typeface="Arial"/>
                <a:cs typeface="Arial"/>
              </a:defRPr>
            </a:defPPr>
          </a:lstStyle>
          <a:p>
            <a:pPr>
              <a:defRPr sz="1200" b="0">
                <a:solidFill>
                  <a:schemeClr val="accent2"/>
                </a:solidFill>
                <a:latin typeface="Arial"/>
                <a:ea typeface="Arial"/>
                <a:cs typeface="Arial"/>
              </a:defRPr>
            </a:pPr>
            <a:r>
              <a:rPr sz="1200" b="0">
                <a:solidFill>
                  <a:schemeClr val="accent2"/>
                </a:solidFill>
                <a:latin typeface="Arial"/>
                <a:ea typeface="Arial"/>
                <a:cs typeface="Arial"/>
              </a:rPr>
              <a:t>Black-Gold · image-derived dark theme</a:t>
            </a:r>
          </a:p>
        </p:txBody>
      </p:sp>
    </p:spTree>
    <p:extLst>
      <p:ext uri="{BB962C8B-B14F-4D97-AF65-F5344CB8AC3E}">
        <p14:creationId xmlns:p14="http://schemas.microsoft.com/office/powerpoint/2010/main" val="870173748"/>
      </p:ext>
    </p:extLst>
  </p:cSld>
  <p:clrMapOvr>
    <a:masterClrMapping/>
  </p:clrMapOvr>
</p:sld>
</file>

<file path=ppt/theme/theme1.xml><?xml version="1.0" encoding="utf-8"?>
<a:theme xmlns:a="http://schemas.openxmlformats.org/drawingml/2006/main" name="ChatGPT">
  <a:themeElements>
    <a:clrScheme name="Aptlantis-Black-Gold">
      <a:dk1>
        <a:srgbClr val="0A1924"/>
      </a:dk1>
      <a:lt1>
        <a:srgbClr val="FCFDF7"/>
      </a:lt1>
      <a:dk2>
        <a:srgbClr val="18222A"/>
      </a:dk2>
      <a:lt2>
        <a:srgbClr val="C38651"/>
      </a:lt2>
      <a:accent1>
        <a:srgbClr val="F8C265"/>
      </a:accent1>
      <a:accent2>
        <a:srgbClr val="6F95B6"/>
      </a:accent2>
      <a:accent3>
        <a:srgbClr val="89B2A7"/>
      </a:accent3>
      <a:accent4>
        <a:srgbClr val="6F95B6"/>
      </a:accent4>
      <a:accent5>
        <a:srgbClr val="FDEFB4"/>
      </a:accent5>
      <a:accent6>
        <a:srgbClr val="EDAF57"/>
      </a:accent6>
      <a:hlink>
        <a:srgbClr val="F8C265"/>
      </a:hlink>
      <a:folHlink>
        <a:srgbClr val="6F95B6"/>
      </a:folHlink>
    </a:clrScheme>
    <a:fontScheme name="Custom 1">
      <a:majorFont>
        <a:latin typeface="IBM Plex Sans"/>
        <a:ea typeface=""/>
        <a:cs typeface=""/>
      </a:majorFont>
      <a:minorFont>
        <a:latin typeface="IBM Plex Sans"/>
        <a:ea typeface=""/>
        <a:cs typeface=""/>
      </a:minorFont>
    </a:fontScheme>
    <a:fmtScheme name="Aptlantis-Black-Gol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Aptlantis-Black-Gold">
      <a:dk1>
        <a:srgbClr val="0A1924"/>
      </a:dk1>
      <a:lt1>
        <a:srgbClr val="FCFDF7"/>
      </a:lt1>
      <a:dk2>
        <a:srgbClr val="18222A"/>
      </a:dk2>
      <a:lt2>
        <a:srgbClr val="C38651"/>
      </a:lt2>
      <a:accent1>
        <a:srgbClr val="F8C265"/>
      </a:accent1>
      <a:accent2>
        <a:srgbClr val="6F95B6"/>
      </a:accent2>
      <a:accent3>
        <a:srgbClr val="89B2A7"/>
      </a:accent3>
      <a:accent4>
        <a:srgbClr val="6F95B6"/>
      </a:accent4>
      <a:accent5>
        <a:srgbClr val="FDEFB4"/>
      </a:accent5>
      <a:accent6>
        <a:srgbClr val="EDAF57"/>
      </a:accent6>
      <a:hlink>
        <a:srgbClr val="F8C265"/>
      </a:hlink>
      <a:folHlink>
        <a:srgbClr val="6F95B6"/>
      </a:folHlink>
    </a:clrScheme>
    <a:fontScheme name="">
      <a:majorFont>
        <a:latin typeface="Arial"/>
        <a:ea typeface=""/>
        <a:cs typeface=""/>
      </a:majorFont>
      <a:minorFont>
        <a:latin typeface="Arial"/>
        <a:ea typeface=""/>
        <a:cs typeface=""/>
      </a:minorFont>
    </a:fontScheme>
    <a:fmtScheme name="Aptlantis-Black-Gol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4971</Words>
  <Application>Microsoft Office PowerPoint</Application>
  <DocSecurity>0</DocSecurity>
  <PresentationFormat>Widescreen</PresentationFormat>
  <Paragraphs>658</Paragraphs>
  <Slides>24</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Herb Schumann</cp:lastModifiedBy>
  <cp:revision>1</cp:revision>
  <dcterms:created xsi:type="dcterms:W3CDTF">2026-10-08T22:36:31Z</dcterms:created>
  <dcterms:modified xsi:type="dcterms:W3CDTF">2026-10-08T22:49:21Z</dcterms:modified>
</cp:coreProperties>
</file>